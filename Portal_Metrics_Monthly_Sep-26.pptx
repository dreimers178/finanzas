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58158"/>
                </a:solidFill>
                <a:latin typeface="Calibri"/>
              </a:defRPr>
            </a:pPr>
            <a:r>
              <a:rPr sz="1300" b="0" i="0" u="none" strike="noStrike">
                <a:solidFill>
                  <a:srgbClr val="158158"/>
                </a:solidFill>
                <a:latin typeface="Calibri"/>
              </a:rPr>
              <a:t>Resolution distribution (%)</a:t>
            </a:r>
          </a:p>
        </c:rich>
      </c:tx>
      <c:layout/>
      <c:overlay val="0"/>
    </c:title>
    <c:autoTitleDeleted val="0"/>
    <c:plotArea>
      <c:layout/>
      <c:doughnutChart>
        <c:varyColors val="1"/>
        <c:ser>
          <c:idx val="0"/>
          <c:order val="0"/>
          <c:tx>
            <c:strRef>
              <c:f>Sheet1!$B$1</c:f>
              <c:strCache>
                <c:ptCount val="1"/>
                <c:pt idx="0">
                  <c:v>Distribution</c:v>
                </c:pt>
              </c:strCache>
            </c:strRef>
          </c:tx>
          <c:spPr>
            <a:solidFill>
              <a:schemeClr val="accent1"/>
            </a:solidFill>
            <a:ln w="9525" cap="flat">
              <a:solidFill>
                <a:srgbClr val="F9F9F9"/>
              </a:solidFill>
              <a:prstDash val="solid"/>
              <a:round/>
            </a:ln>
            <a:effectLst/>
          </c:spPr>
          <c:dPt>
            <c:idx val="0"/>
            <c:bubble3D val="0"/>
            <c:spPr>
              <a:solidFill>
                <a:srgbClr val="50B432"/>
              </a:solidFill>
              <a:effectLst/>
            </c:spPr>
          </c:dPt>
          <c:dPt>
            <c:idx val="1"/>
            <c:bubble3D val="0"/>
            <c:spPr>
              <a:solidFill>
                <a:srgbClr val="53B5E0"/>
              </a:solidFill>
              <a:effectLst/>
            </c:spPr>
          </c:dPt>
          <c:dPt>
            <c:idx val="2"/>
            <c:bubble3D val="0"/>
            <c:spPr>
              <a:solidFill>
                <a:srgbClr val="4292E1"/>
              </a:solidFill>
              <a:effectLst/>
            </c:spPr>
          </c:dPt>
          <c:dPt>
            <c:idx val="3"/>
            <c:bubble3D val="0"/>
            <c:spPr>
              <a:solidFill>
                <a:srgbClr val="ED8B1B"/>
              </a:solidFill>
              <a:effectLst/>
            </c:spPr>
          </c:dPt>
          <c:dPt>
            <c:idx val="4"/>
            <c:bubble3D val="0"/>
            <c:spPr>
              <a:solidFill>
                <a:srgbClr val="4A2ADB"/>
              </a:solidFill>
              <a:effectLst/>
            </c:spPr>
          </c:dPt>
          <c:dLbls>
            <c:dLbl>
              <c:idx val="0"/>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Same day</c:v>
                </c:pt>
                <c:pt idx="1">
                  <c:v>1-2 d</c:v>
                </c:pt>
                <c:pt idx="2">
                  <c:v>2-4 d</c:v>
                </c:pt>
                <c:pt idx="3">
                  <c:v>4-7 d</c:v>
                </c:pt>
                <c:pt idx="4">
                  <c:v>&gt;7 d</c:v>
                </c:pt>
              </c:strCache>
            </c:strRef>
          </c:cat>
          <c:val>
            <c:numRef>
              <c:f>Sheet1!$B$2:$B$6</c:f>
              <c:numCache>
                <c:ptCount val="5"/>
                <c:pt idx="0">
                  <c:v>62</c:v>
                </c:pt>
                <c:pt idx="1">
                  <c:v>10</c:v>
                </c:pt>
                <c:pt idx="2">
                  <c:v>0</c:v>
                </c:pt>
                <c:pt idx="3">
                  <c:v>0</c:v>
                </c:pt>
                <c:pt idx="4">
                  <c:v>1</c:v>
                </c:pt>
              </c:numCache>
            </c:numRef>
          </c:val>
        </c:ser>
        <c:firstSliceAng val="0"/>
        <c:holeSize val="58"/>
      </c:doughnutChart>
      <c:spPr>
        <a:noFill/>
        <a:ln>
          <a:noFill/>
        </a:ln>
        <a:effectLst/>
      </c:spPr>
    </c:plotArea>
    <c:legend>
      <c:legendPos val="r"/>
      <c:overlay val="0"/>
      <c:txPr>
        <a:bodyPr/>
        <a:lstStyle/>
        <a:p>
          <a:pPr>
            <a:defRPr sz="1000">
              <a:solidFill>
                <a:srgbClr val="1F2A44"/>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58158"/>
                </a:solidFill>
                <a:latin typeface="Calibri"/>
              </a:defRPr>
            </a:pPr>
            <a:r>
              <a:rPr sz="1200" b="0" i="0" u="none" strike="noStrike">
                <a:solidFill>
                  <a:srgbClr val="158158"/>
                </a:solidFill>
                <a:latin typeface="Calibri"/>
              </a:rPr>
              <a:t>Invoices by portal (platforms we use most)</a:t>
            </a:r>
          </a:p>
        </c:rich>
      </c:tx>
      <c:layout/>
      <c:overlay val="0"/>
    </c:title>
    <c:autoTitleDeleted val="0"/>
    <c:plotArea>
      <c:layout/>
      <c:barChart>
        <c:barDir val="bar"/>
        <c:grouping val="clustered"/>
        <c:varyColors val="0"/>
        <c:ser>
          <c:idx val="0"/>
          <c:order val="0"/>
          <c:tx>
            <c:strRef>
              <c:f>Sheet1!$B$1</c:f>
              <c:strCache>
                <c:ptCount val="1"/>
                <c:pt idx="0">
                  <c:v>Invoices</c:v>
                </c:pt>
              </c:strCache>
            </c:strRef>
          </c:tx>
          <c:spPr>
            <a:solidFill>
              <a:srgbClr val="158158"/>
            </a:solidFill>
            <a:effectLst/>
          </c:spPr>
          <c:invertIfNegative val="0"/>
          <c:dLbls>
            <c:numFmt formatCode="#,##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cat>
            <c:multiLvlStrRef>
              <c:f>Sheet1!$A$2:$A$7</c:f>
              <c:multiLvlStrCache>
                <c:ptCount val="6"/>
                <c:lvl>
                  <c:pt idx="0">
                    <c:v>Coupa</c:v>
                  </c:pt>
                  <c:pt idx="1">
                    <c:v>Ariba</c:v>
                  </c:pt>
                  <c:pt idx="2">
                    <c:v>Taulia</c:v>
                  </c:pt>
                  <c:pt idx="3">
                    <c:v>URL</c:v>
                  </c:pt>
                  <c:pt idx="4">
                    <c:v>Chorus Pro</c:v>
                  </c:pt>
                  <c:pt idx="5">
                    <c:v>Oracle</c:v>
                  </c:pt>
                </c:lvl>
              </c:multiLvlStrCache>
            </c:multiLvlStrRef>
          </c:cat>
          <c:val>
            <c:numRef>
              <c:f>Sheet1!$B$2:$B$7</c:f>
              <c:numCache>
                <c:formatCode>General</c:formatCode>
                <c:ptCount val="6"/>
                <c:pt idx="0">
                  <c:v>28</c:v>
                </c:pt>
                <c:pt idx="1">
                  <c:v>18</c:v>
                </c:pt>
                <c:pt idx="2">
                  <c:v>9</c:v>
                </c:pt>
                <c:pt idx="3">
                  <c:v>6</c:v>
                </c:pt>
                <c:pt idx="4">
                  <c:v>5</c:v>
                </c:pt>
                <c:pt idx="5">
                  <c:v>3</c:v>
                </c:pt>
              </c:numCache>
            </c:numRef>
          </c:val>
        </c:ser>
        <c:dLbls>
          <c:numFmt formatCode="#,##0" sourceLinked="0"/>
          <c:txPr>
            <a:bodyPr/>
            <a:lstStyle/>
            <a:p>
              <a:pPr>
                <a:defRPr b="0" i="0" strike="noStrike" sz="1000" u="none">
                  <a:solidFill>
                    <a:srgbClr val="1F2A44"/>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B84"/>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Portal Uploads — the whole team's work: submitting our clients' invoices across every customer portal. Numbers are cut off at September 30 (October excluded).
In September we handled 85 upload requests and resolved 73 within the month, at 0.7 days on average and 85% resolved same-day.
The trend keeps improving: 2.9 days in July, 1.7 in August, 0.7 in September.
The donut shows how fast we close them — the large majority are same-day.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Tesorio Tasks — how we track that same portal work end to end. Cut off at September 30.
In September we completed 170 tasks within the month at 0.8 days on average, 80% same-day, with 72 still open at month-end (most resolved in early October).
The bar chart shows which platforms we use most: Coupa and Ariba carry the bulk of our volume, then Taulia.
Opportunity: the slowest cases are URL-based ones with no standing access — getting access set up up front closes that gap. Speed and accuracy here get us paid faster and bring down DSO, while making it easier for the client to process and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66928"/>
          </a:xfrm>
          <a:prstGeom prst="rect">
            <a:avLst/>
          </a:prstGeom>
        </p:spPr>
      </p:pic>
      <p:sp>
        <p:nvSpPr>
          <p:cNvPr id="3" name="Text 0"/>
          <p:cNvSpPr txBox="1"/>
          <p:nvPr/>
        </p:nvSpPr>
        <p:spPr>
          <a:xfrm>
            <a:off x="7040880" y="118872"/>
            <a:ext cx="1920240" cy="329184"/>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qualtrics</a:t>
            </a:r>
            <a:pPr algn="r" indent="0" marL="0">
              <a:buNone/>
            </a:pPr>
            <a:r>
              <a:rPr lang="en-US" sz="900" b="1" baseline="30000" dirty="0">
                <a:solidFill>
                  <a:srgbClr val="FFFFFF"/>
                </a:solidFill>
                <a:latin typeface="Calibri" pitchFamily="34" charset="0"/>
                <a:ea typeface="Calibri" pitchFamily="34" charset="-122"/>
                <a:cs typeface="Calibri" pitchFamily="34" charset="-120"/>
              </a:rPr>
              <a:t>XM</a:t>
            </a:r>
            <a:endParaRPr lang="en-US" sz="1700" dirty="0"/>
          </a:p>
        </p:txBody>
      </p:sp>
      <p:sp>
        <p:nvSpPr>
          <p:cNvPr id="4" name="Text 1"/>
          <p:cNvSpPr txBox="1"/>
          <p:nvPr/>
        </p:nvSpPr>
        <p:spPr>
          <a:xfrm>
            <a:off x="457200" y="713232"/>
            <a:ext cx="8229600" cy="457200"/>
          </a:xfrm>
          <a:prstGeom prst="rect">
            <a:avLst/>
          </a:prstGeom>
          <a:noFill/>
          <a:ln/>
        </p:spPr>
        <p:txBody>
          <a:bodyPr wrap="square" lIns="0" tIns="0" rIns="0" bIns="0" rtlCol="0" anchor="ctr"/>
          <a:lstStyle/>
          <a:p>
            <a:pPr indent="0" marL="0">
              <a:buNone/>
            </a:pPr>
            <a:r>
              <a:rPr lang="en-US" sz="2400" b="1" dirty="0">
                <a:solidFill>
                  <a:srgbClr val="158158"/>
                </a:solidFill>
                <a:latin typeface="Calibri" pitchFamily="34" charset="0"/>
                <a:ea typeface="Calibri" pitchFamily="34" charset="-122"/>
                <a:cs typeface="Calibri" pitchFamily="34" charset="-120"/>
              </a:rPr>
              <a:t>Portal Uploads  ·  Sep - 26</a:t>
            </a:r>
            <a:endParaRPr lang="en-US" sz="2400" dirty="0"/>
          </a:p>
        </p:txBody>
      </p:sp>
      <p:sp>
        <p:nvSpPr>
          <p:cNvPr id="5" name="Shape 2"/>
          <p:cNvSpPr/>
          <p:nvPr/>
        </p:nvSpPr>
        <p:spPr>
          <a:xfrm>
            <a:off x="457200" y="1325880"/>
            <a:ext cx="1965960" cy="960120"/>
          </a:xfrm>
          <a:prstGeom prst="roundRect">
            <a:avLst>
              <a:gd name="adj" fmla="val 6667"/>
            </a:avLst>
          </a:prstGeom>
          <a:solidFill>
            <a:srgbClr val="F3F5F7"/>
          </a:solidFill>
          <a:ln/>
        </p:spPr>
      </p:sp>
      <p:sp>
        <p:nvSpPr>
          <p:cNvPr id="6" name="Text 3"/>
          <p:cNvSpPr txBox="1"/>
          <p:nvPr/>
        </p:nvSpPr>
        <p:spPr>
          <a:xfrm>
            <a:off x="457200" y="1417320"/>
            <a:ext cx="1965960" cy="502920"/>
          </a:xfrm>
          <a:prstGeom prst="rect">
            <a:avLst/>
          </a:prstGeom>
          <a:noFill/>
          <a:ln/>
        </p:spPr>
        <p:txBody>
          <a:bodyPr wrap="square" lIns="0" tIns="0" rIns="0" bIns="0" rtlCol="0" anchor="ctr"/>
          <a:lstStyle/>
          <a:p>
            <a:pPr algn="ctr" indent="0" marL="0">
              <a:buNone/>
            </a:pPr>
            <a:r>
              <a:rPr lang="en-US" sz="2800" b="1" dirty="0">
                <a:solidFill>
                  <a:srgbClr val="4292E1"/>
                </a:solidFill>
                <a:latin typeface="Calibri" pitchFamily="34" charset="0"/>
                <a:ea typeface="Calibri" pitchFamily="34" charset="-122"/>
                <a:cs typeface="Calibri" pitchFamily="34" charset="-120"/>
              </a:rPr>
              <a:t>85</a:t>
            </a:r>
            <a:endParaRPr lang="en-US" sz="2800" dirty="0"/>
          </a:p>
        </p:txBody>
      </p:sp>
      <p:sp>
        <p:nvSpPr>
          <p:cNvPr id="7" name="Text 4"/>
          <p:cNvSpPr txBox="1"/>
          <p:nvPr/>
        </p:nvSpPr>
        <p:spPr>
          <a:xfrm>
            <a:off x="457200"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Uploads</a:t>
            </a:r>
            <a:endParaRPr lang="en-US" sz="1100" dirty="0"/>
          </a:p>
        </p:txBody>
      </p:sp>
      <p:sp>
        <p:nvSpPr>
          <p:cNvPr id="8" name="Shape 5"/>
          <p:cNvSpPr/>
          <p:nvPr/>
        </p:nvSpPr>
        <p:spPr>
          <a:xfrm>
            <a:off x="2542032" y="1325880"/>
            <a:ext cx="1965960" cy="960120"/>
          </a:xfrm>
          <a:prstGeom prst="roundRect">
            <a:avLst>
              <a:gd name="adj" fmla="val 6667"/>
            </a:avLst>
          </a:prstGeom>
          <a:solidFill>
            <a:srgbClr val="F3F5F7"/>
          </a:solidFill>
          <a:ln/>
        </p:spPr>
      </p:sp>
      <p:sp>
        <p:nvSpPr>
          <p:cNvPr id="9" name="Text 6"/>
          <p:cNvSpPr txBox="1"/>
          <p:nvPr/>
        </p:nvSpPr>
        <p:spPr>
          <a:xfrm>
            <a:off x="2542032" y="1417320"/>
            <a:ext cx="1965960" cy="502920"/>
          </a:xfrm>
          <a:prstGeom prst="rect">
            <a:avLst/>
          </a:prstGeom>
          <a:noFill/>
          <a:ln/>
        </p:spPr>
        <p:txBody>
          <a:bodyPr wrap="square" lIns="0" tIns="0" rIns="0" bIns="0" rtlCol="0" anchor="ctr"/>
          <a:lstStyle/>
          <a:p>
            <a:pPr algn="ctr" indent="0" marL="0">
              <a:buNone/>
            </a:pPr>
            <a:r>
              <a:rPr lang="en-US" sz="2800" b="1" dirty="0">
                <a:solidFill>
                  <a:srgbClr val="34B78F"/>
                </a:solidFill>
                <a:latin typeface="Calibri" pitchFamily="34" charset="0"/>
                <a:ea typeface="Calibri" pitchFamily="34" charset="-122"/>
                <a:cs typeface="Calibri" pitchFamily="34" charset="-120"/>
              </a:rPr>
              <a:t>73</a:t>
            </a:r>
            <a:endParaRPr lang="en-US" sz="2800" dirty="0"/>
          </a:p>
        </p:txBody>
      </p:sp>
      <p:sp>
        <p:nvSpPr>
          <p:cNvPr id="10" name="Text 7"/>
          <p:cNvSpPr txBox="1"/>
          <p:nvPr/>
        </p:nvSpPr>
        <p:spPr>
          <a:xfrm>
            <a:off x="2542032"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Resolved</a:t>
            </a:r>
            <a:endParaRPr lang="en-US" sz="1100" dirty="0"/>
          </a:p>
        </p:txBody>
      </p:sp>
      <p:sp>
        <p:nvSpPr>
          <p:cNvPr id="11" name="Shape 8"/>
          <p:cNvSpPr/>
          <p:nvPr/>
        </p:nvSpPr>
        <p:spPr>
          <a:xfrm>
            <a:off x="4626864" y="1325880"/>
            <a:ext cx="1965960" cy="960120"/>
          </a:xfrm>
          <a:prstGeom prst="roundRect">
            <a:avLst>
              <a:gd name="adj" fmla="val 6667"/>
            </a:avLst>
          </a:prstGeom>
          <a:solidFill>
            <a:srgbClr val="F3F5F7"/>
          </a:solidFill>
          <a:ln/>
        </p:spPr>
      </p:sp>
      <p:sp>
        <p:nvSpPr>
          <p:cNvPr id="12" name="Text 9"/>
          <p:cNvSpPr txBox="1"/>
          <p:nvPr/>
        </p:nvSpPr>
        <p:spPr>
          <a:xfrm>
            <a:off x="4626864" y="1417320"/>
            <a:ext cx="1965960" cy="502920"/>
          </a:xfrm>
          <a:prstGeom prst="rect">
            <a:avLst/>
          </a:prstGeom>
          <a:noFill/>
          <a:ln/>
        </p:spPr>
        <p:txBody>
          <a:bodyPr wrap="square" lIns="0" tIns="0" rIns="0" bIns="0" rtlCol="0" anchor="ctr"/>
          <a:lstStyle/>
          <a:p>
            <a:pPr algn="ctr" indent="0" marL="0">
              <a:buNone/>
            </a:pPr>
            <a:r>
              <a:rPr lang="en-US" sz="2800" b="1" dirty="0">
                <a:solidFill>
                  <a:srgbClr val="ED8B1B"/>
                </a:solidFill>
                <a:latin typeface="Calibri" pitchFamily="34" charset="0"/>
                <a:ea typeface="Calibri" pitchFamily="34" charset="-122"/>
                <a:cs typeface="Calibri" pitchFamily="34" charset="-120"/>
              </a:rPr>
              <a:t>0.7 d</a:t>
            </a:r>
            <a:endParaRPr lang="en-US" sz="2800" dirty="0"/>
          </a:p>
        </p:txBody>
      </p:sp>
      <p:sp>
        <p:nvSpPr>
          <p:cNvPr id="13" name="Text 10"/>
          <p:cNvSpPr txBox="1"/>
          <p:nvPr/>
        </p:nvSpPr>
        <p:spPr>
          <a:xfrm>
            <a:off x="4626864"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Avg. resolution</a:t>
            </a:r>
            <a:endParaRPr lang="en-US" sz="1100" dirty="0"/>
          </a:p>
        </p:txBody>
      </p:sp>
      <p:sp>
        <p:nvSpPr>
          <p:cNvPr id="14" name="Shape 11"/>
          <p:cNvSpPr/>
          <p:nvPr/>
        </p:nvSpPr>
        <p:spPr>
          <a:xfrm>
            <a:off x="6711696" y="1325880"/>
            <a:ext cx="1965960" cy="960120"/>
          </a:xfrm>
          <a:prstGeom prst="roundRect">
            <a:avLst>
              <a:gd name="adj" fmla="val 6667"/>
            </a:avLst>
          </a:prstGeom>
          <a:solidFill>
            <a:srgbClr val="F3F5F7"/>
          </a:solidFill>
          <a:ln/>
        </p:spPr>
      </p:sp>
      <p:sp>
        <p:nvSpPr>
          <p:cNvPr id="15" name="Text 12"/>
          <p:cNvSpPr txBox="1"/>
          <p:nvPr/>
        </p:nvSpPr>
        <p:spPr>
          <a:xfrm>
            <a:off x="6711696" y="1417320"/>
            <a:ext cx="1965960" cy="502920"/>
          </a:xfrm>
          <a:prstGeom prst="rect">
            <a:avLst/>
          </a:prstGeom>
          <a:noFill/>
          <a:ln/>
        </p:spPr>
        <p:txBody>
          <a:bodyPr wrap="square" lIns="0" tIns="0" rIns="0" bIns="0" rtlCol="0" anchor="ctr"/>
          <a:lstStyle/>
          <a:p>
            <a:pPr algn="ctr" indent="0" marL="0">
              <a:buNone/>
            </a:pPr>
            <a:r>
              <a:rPr lang="en-US" sz="2800" b="1" dirty="0">
                <a:solidFill>
                  <a:srgbClr val="50B432"/>
                </a:solidFill>
                <a:latin typeface="Calibri" pitchFamily="34" charset="0"/>
                <a:ea typeface="Calibri" pitchFamily="34" charset="-122"/>
                <a:cs typeface="Calibri" pitchFamily="34" charset="-120"/>
              </a:rPr>
              <a:t>85%</a:t>
            </a:r>
            <a:endParaRPr lang="en-US" sz="2800" dirty="0"/>
          </a:p>
        </p:txBody>
      </p:sp>
      <p:sp>
        <p:nvSpPr>
          <p:cNvPr id="16" name="Text 13"/>
          <p:cNvSpPr txBox="1"/>
          <p:nvPr/>
        </p:nvSpPr>
        <p:spPr>
          <a:xfrm>
            <a:off x="6711696"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Same-day</a:t>
            </a:r>
            <a:endParaRPr lang="en-US" sz="1100" dirty="0"/>
          </a:p>
        </p:txBody>
      </p:sp>
      <p:sp>
        <p:nvSpPr>
          <p:cNvPr id="17" name="Text 14"/>
          <p:cNvSpPr txBox="1"/>
          <p:nvPr/>
        </p:nvSpPr>
        <p:spPr>
          <a:xfrm>
            <a:off x="457200" y="2514600"/>
            <a:ext cx="4572000" cy="292608"/>
          </a:xfrm>
          <a:prstGeom prst="rect">
            <a:avLst/>
          </a:prstGeom>
          <a:noFill/>
          <a:ln/>
        </p:spPr>
        <p:txBody>
          <a:bodyPr wrap="square" lIns="0" tIns="0" rIns="0" bIns="0" rtlCol="0" anchor="ctr"/>
          <a:lstStyle/>
          <a:p>
            <a:pPr indent="0" marL="0">
              <a:buNone/>
            </a:pPr>
            <a:r>
              <a:rPr lang="en-US" sz="1300" b="1" dirty="0">
                <a:solidFill>
                  <a:srgbClr val="158158"/>
                </a:solidFill>
                <a:latin typeface="Calibri" pitchFamily="34" charset="0"/>
                <a:ea typeface="Calibri" pitchFamily="34" charset="-122"/>
                <a:cs typeface="Calibri" pitchFamily="34" charset="-120"/>
              </a:rPr>
              <a:t>Resolution time by month</a:t>
            </a:r>
            <a:endParaRPr lang="en-US" sz="13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852928"/>
          <a:ext cx="4572000" cy="914400"/>
        </p:xfrm>
        <a:graphic>
          <a:graphicData uri="http://schemas.openxmlformats.org/drawingml/2006/table">
            <a:tbl>
              <a:tblPr/>
              <a:tblGrid>
                <a:gridCol w="1051560"/>
                <a:gridCol w="914400"/>
                <a:gridCol w="914400"/>
                <a:gridCol w="822960"/>
                <a:gridCol w="86868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Uploads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Resolved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Avg. days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same day</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r>
              <a:tr h="347472">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Jul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62</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61</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2.9</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77%</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Aug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46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47472">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Sep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0.7</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r>
            </a:tbl>
          </a:graphicData>
        </a:graphic>
      </p:graphicFrame>
      <p:graphicFrame>
        <p:nvGraphicFramePr>
          <p:cNvPr id="19" name="Chart 0" descr=""/>
          <p:cNvGraphicFramePr/>
          <p:nvPr/>
        </p:nvGraphicFramePr>
        <p:xfrm>
          <a:off x="5394960" y="2468880"/>
          <a:ext cx="3474720" cy="23317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66928"/>
          </a:xfrm>
          <a:prstGeom prst="rect">
            <a:avLst/>
          </a:prstGeom>
        </p:spPr>
      </p:pic>
      <p:sp>
        <p:nvSpPr>
          <p:cNvPr id="3" name="Text 0"/>
          <p:cNvSpPr txBox="1"/>
          <p:nvPr/>
        </p:nvSpPr>
        <p:spPr>
          <a:xfrm>
            <a:off x="7040880" y="118872"/>
            <a:ext cx="1920240" cy="329184"/>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qualtrics</a:t>
            </a:r>
            <a:pPr algn="r" indent="0" marL="0">
              <a:buNone/>
            </a:pPr>
            <a:r>
              <a:rPr lang="en-US" sz="900" b="1" baseline="30000" dirty="0">
                <a:solidFill>
                  <a:srgbClr val="FFFFFF"/>
                </a:solidFill>
                <a:latin typeface="Calibri" pitchFamily="34" charset="0"/>
                <a:ea typeface="Calibri" pitchFamily="34" charset="-122"/>
                <a:cs typeface="Calibri" pitchFamily="34" charset="-120"/>
              </a:rPr>
              <a:t>XM</a:t>
            </a:r>
            <a:endParaRPr lang="en-US" sz="1700" dirty="0"/>
          </a:p>
        </p:txBody>
      </p:sp>
      <p:sp>
        <p:nvSpPr>
          <p:cNvPr id="4" name="Text 1"/>
          <p:cNvSpPr txBox="1"/>
          <p:nvPr/>
        </p:nvSpPr>
        <p:spPr>
          <a:xfrm>
            <a:off x="457200" y="713232"/>
            <a:ext cx="8229600" cy="457200"/>
          </a:xfrm>
          <a:prstGeom prst="rect">
            <a:avLst/>
          </a:prstGeom>
          <a:noFill/>
          <a:ln/>
        </p:spPr>
        <p:txBody>
          <a:bodyPr wrap="square" lIns="0" tIns="0" rIns="0" bIns="0" rtlCol="0" anchor="ctr"/>
          <a:lstStyle/>
          <a:p>
            <a:pPr indent="0" marL="0">
              <a:buNone/>
            </a:pPr>
            <a:r>
              <a:rPr lang="en-US" sz="2400" b="1" dirty="0">
                <a:solidFill>
                  <a:srgbClr val="158158"/>
                </a:solidFill>
                <a:latin typeface="Calibri" pitchFamily="34" charset="0"/>
                <a:ea typeface="Calibri" pitchFamily="34" charset="-122"/>
                <a:cs typeface="Calibri" pitchFamily="34" charset="-120"/>
              </a:rPr>
              <a:t>Tesorio Tasks  ·  Sep - 26</a:t>
            </a:r>
            <a:endParaRPr lang="en-US" sz="2400" dirty="0"/>
          </a:p>
        </p:txBody>
      </p:sp>
      <p:sp>
        <p:nvSpPr>
          <p:cNvPr id="5" name="Shape 2"/>
          <p:cNvSpPr/>
          <p:nvPr/>
        </p:nvSpPr>
        <p:spPr>
          <a:xfrm>
            <a:off x="457200" y="1325880"/>
            <a:ext cx="1965960" cy="960120"/>
          </a:xfrm>
          <a:prstGeom prst="roundRect">
            <a:avLst>
              <a:gd name="adj" fmla="val 6667"/>
            </a:avLst>
          </a:prstGeom>
          <a:solidFill>
            <a:srgbClr val="F3F5F7"/>
          </a:solidFill>
          <a:ln/>
        </p:spPr>
      </p:sp>
      <p:sp>
        <p:nvSpPr>
          <p:cNvPr id="6" name="Text 3"/>
          <p:cNvSpPr txBox="1"/>
          <p:nvPr/>
        </p:nvSpPr>
        <p:spPr>
          <a:xfrm>
            <a:off x="457200" y="1417320"/>
            <a:ext cx="1965960" cy="502920"/>
          </a:xfrm>
          <a:prstGeom prst="rect">
            <a:avLst/>
          </a:prstGeom>
          <a:noFill/>
          <a:ln/>
        </p:spPr>
        <p:txBody>
          <a:bodyPr wrap="square" lIns="0" tIns="0" rIns="0" bIns="0" rtlCol="0" anchor="ctr"/>
          <a:lstStyle/>
          <a:p>
            <a:pPr algn="ctr" indent="0" marL="0">
              <a:buNone/>
            </a:pPr>
            <a:r>
              <a:rPr lang="en-US" sz="2800" b="1" dirty="0">
                <a:solidFill>
                  <a:srgbClr val="4292E1"/>
                </a:solidFill>
                <a:latin typeface="Calibri" pitchFamily="34" charset="0"/>
                <a:ea typeface="Calibri" pitchFamily="34" charset="-122"/>
                <a:cs typeface="Calibri" pitchFamily="34" charset="-120"/>
              </a:rPr>
              <a:t>170</a:t>
            </a:r>
            <a:endParaRPr lang="en-US" sz="2800" dirty="0"/>
          </a:p>
        </p:txBody>
      </p:sp>
      <p:sp>
        <p:nvSpPr>
          <p:cNvPr id="7" name="Text 4"/>
          <p:cNvSpPr txBox="1"/>
          <p:nvPr/>
        </p:nvSpPr>
        <p:spPr>
          <a:xfrm>
            <a:off x="457200"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Completed</a:t>
            </a:r>
            <a:endParaRPr lang="en-US" sz="1100" dirty="0"/>
          </a:p>
        </p:txBody>
      </p:sp>
      <p:sp>
        <p:nvSpPr>
          <p:cNvPr id="8" name="Shape 5"/>
          <p:cNvSpPr/>
          <p:nvPr/>
        </p:nvSpPr>
        <p:spPr>
          <a:xfrm>
            <a:off x="2542032" y="1325880"/>
            <a:ext cx="1965960" cy="960120"/>
          </a:xfrm>
          <a:prstGeom prst="roundRect">
            <a:avLst>
              <a:gd name="adj" fmla="val 6667"/>
            </a:avLst>
          </a:prstGeom>
          <a:solidFill>
            <a:srgbClr val="F3F5F7"/>
          </a:solidFill>
          <a:ln/>
        </p:spPr>
      </p:sp>
      <p:sp>
        <p:nvSpPr>
          <p:cNvPr id="9" name="Text 6"/>
          <p:cNvSpPr txBox="1"/>
          <p:nvPr/>
        </p:nvSpPr>
        <p:spPr>
          <a:xfrm>
            <a:off x="2542032" y="1417320"/>
            <a:ext cx="1965960" cy="502920"/>
          </a:xfrm>
          <a:prstGeom prst="rect">
            <a:avLst/>
          </a:prstGeom>
          <a:noFill/>
          <a:ln/>
        </p:spPr>
        <p:txBody>
          <a:bodyPr wrap="square" lIns="0" tIns="0" rIns="0" bIns="0" rtlCol="0" anchor="ctr"/>
          <a:lstStyle/>
          <a:p>
            <a:pPr algn="ctr" indent="0" marL="0">
              <a:buNone/>
            </a:pPr>
            <a:r>
              <a:rPr lang="en-US" sz="2800" b="1" dirty="0">
                <a:solidFill>
                  <a:srgbClr val="ED8B1B"/>
                </a:solidFill>
                <a:latin typeface="Calibri" pitchFamily="34" charset="0"/>
                <a:ea typeface="Calibri" pitchFamily="34" charset="-122"/>
                <a:cs typeface="Calibri" pitchFamily="34" charset="-120"/>
              </a:rPr>
              <a:t>0.8 d</a:t>
            </a:r>
            <a:endParaRPr lang="en-US" sz="2800" dirty="0"/>
          </a:p>
        </p:txBody>
      </p:sp>
      <p:sp>
        <p:nvSpPr>
          <p:cNvPr id="10" name="Text 7"/>
          <p:cNvSpPr txBox="1"/>
          <p:nvPr/>
        </p:nvSpPr>
        <p:spPr>
          <a:xfrm>
            <a:off x="2542032"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Avg. resolution</a:t>
            </a:r>
            <a:endParaRPr lang="en-US" sz="1100" dirty="0"/>
          </a:p>
        </p:txBody>
      </p:sp>
      <p:sp>
        <p:nvSpPr>
          <p:cNvPr id="11" name="Shape 8"/>
          <p:cNvSpPr/>
          <p:nvPr/>
        </p:nvSpPr>
        <p:spPr>
          <a:xfrm>
            <a:off x="4626864" y="1325880"/>
            <a:ext cx="1965960" cy="960120"/>
          </a:xfrm>
          <a:prstGeom prst="roundRect">
            <a:avLst>
              <a:gd name="adj" fmla="val 6667"/>
            </a:avLst>
          </a:prstGeom>
          <a:solidFill>
            <a:srgbClr val="F3F5F7"/>
          </a:solidFill>
          <a:ln/>
        </p:spPr>
      </p:sp>
      <p:sp>
        <p:nvSpPr>
          <p:cNvPr id="12" name="Text 9"/>
          <p:cNvSpPr txBox="1"/>
          <p:nvPr/>
        </p:nvSpPr>
        <p:spPr>
          <a:xfrm>
            <a:off x="4626864" y="1417320"/>
            <a:ext cx="1965960" cy="502920"/>
          </a:xfrm>
          <a:prstGeom prst="rect">
            <a:avLst/>
          </a:prstGeom>
          <a:noFill/>
          <a:ln/>
        </p:spPr>
        <p:txBody>
          <a:bodyPr wrap="square" lIns="0" tIns="0" rIns="0" bIns="0" rtlCol="0" anchor="ctr"/>
          <a:lstStyle/>
          <a:p>
            <a:pPr algn="ctr" indent="0" marL="0">
              <a:buNone/>
            </a:pPr>
            <a:r>
              <a:rPr lang="en-US" sz="2800" b="1" dirty="0">
                <a:solidFill>
                  <a:srgbClr val="50B432"/>
                </a:solidFill>
                <a:latin typeface="Calibri" pitchFamily="34" charset="0"/>
                <a:ea typeface="Calibri" pitchFamily="34" charset="-122"/>
                <a:cs typeface="Calibri" pitchFamily="34" charset="-120"/>
              </a:rPr>
              <a:t>80%</a:t>
            </a:r>
            <a:endParaRPr lang="en-US" sz="2800" dirty="0"/>
          </a:p>
        </p:txBody>
      </p:sp>
      <p:sp>
        <p:nvSpPr>
          <p:cNvPr id="13" name="Text 10"/>
          <p:cNvSpPr txBox="1"/>
          <p:nvPr/>
        </p:nvSpPr>
        <p:spPr>
          <a:xfrm>
            <a:off x="4626864"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Same-day</a:t>
            </a:r>
            <a:endParaRPr lang="en-US" sz="1100" dirty="0"/>
          </a:p>
        </p:txBody>
      </p:sp>
      <p:sp>
        <p:nvSpPr>
          <p:cNvPr id="14" name="Shape 11"/>
          <p:cNvSpPr/>
          <p:nvPr/>
        </p:nvSpPr>
        <p:spPr>
          <a:xfrm>
            <a:off x="6711696" y="1325880"/>
            <a:ext cx="1965960" cy="960120"/>
          </a:xfrm>
          <a:prstGeom prst="roundRect">
            <a:avLst>
              <a:gd name="adj" fmla="val 6667"/>
            </a:avLst>
          </a:prstGeom>
          <a:solidFill>
            <a:srgbClr val="F3F5F7"/>
          </a:solidFill>
          <a:ln/>
        </p:spPr>
      </p:sp>
      <p:sp>
        <p:nvSpPr>
          <p:cNvPr id="15" name="Text 12"/>
          <p:cNvSpPr txBox="1"/>
          <p:nvPr/>
        </p:nvSpPr>
        <p:spPr>
          <a:xfrm>
            <a:off x="6711696" y="1417320"/>
            <a:ext cx="1965960" cy="502920"/>
          </a:xfrm>
          <a:prstGeom prst="rect">
            <a:avLst/>
          </a:prstGeom>
          <a:noFill/>
          <a:ln/>
        </p:spPr>
        <p:txBody>
          <a:bodyPr wrap="square" lIns="0" tIns="0" rIns="0" bIns="0" rtlCol="0" anchor="ctr"/>
          <a:lstStyle/>
          <a:p>
            <a:pPr algn="ctr" indent="0" marL="0">
              <a:buNone/>
            </a:pPr>
            <a:r>
              <a:rPr lang="en-US" sz="2800" b="1" dirty="0">
                <a:solidFill>
                  <a:srgbClr val="34B78F"/>
                </a:solidFill>
                <a:latin typeface="Calibri" pitchFamily="34" charset="0"/>
                <a:ea typeface="Calibri" pitchFamily="34" charset="-122"/>
                <a:cs typeface="Calibri" pitchFamily="34" charset="-120"/>
              </a:rPr>
              <a:t>72</a:t>
            </a:r>
            <a:endParaRPr lang="en-US" sz="2800" dirty="0"/>
          </a:p>
        </p:txBody>
      </p:sp>
      <p:sp>
        <p:nvSpPr>
          <p:cNvPr id="16" name="Text 13"/>
          <p:cNvSpPr txBox="1"/>
          <p:nvPr/>
        </p:nvSpPr>
        <p:spPr>
          <a:xfrm>
            <a:off x="6711696" y="1929384"/>
            <a:ext cx="1965960" cy="292608"/>
          </a:xfrm>
          <a:prstGeom prst="rect">
            <a:avLst/>
          </a:prstGeom>
          <a:noFill/>
          <a:ln/>
        </p:spPr>
        <p:txBody>
          <a:bodyPr wrap="square" lIns="0" tIns="0" rIns="0" bIns="0" rtlCol="0" anchor="ctr"/>
          <a:lstStyle/>
          <a:p>
            <a:pPr algn="ctr" indent="0" marL="0">
              <a:buNone/>
            </a:pPr>
            <a:r>
              <a:rPr lang="en-US" sz="1100" dirty="0">
                <a:solidFill>
                  <a:srgbClr val="6B7B84"/>
                </a:solidFill>
                <a:latin typeface="Calibri" pitchFamily="34" charset="0"/>
                <a:ea typeface="Calibri" pitchFamily="34" charset="-122"/>
                <a:cs typeface="Calibri" pitchFamily="34" charset="-120"/>
              </a:rPr>
              <a:t>Open (Sep 30)</a:t>
            </a:r>
            <a:endParaRPr lang="en-US" sz="1100" dirty="0"/>
          </a:p>
        </p:txBody>
      </p:sp>
      <p:sp>
        <p:nvSpPr>
          <p:cNvPr id="17" name="Text 14"/>
          <p:cNvSpPr txBox="1"/>
          <p:nvPr/>
        </p:nvSpPr>
        <p:spPr>
          <a:xfrm>
            <a:off x="457200" y="2514600"/>
            <a:ext cx="4572000" cy="292608"/>
          </a:xfrm>
          <a:prstGeom prst="rect">
            <a:avLst/>
          </a:prstGeom>
          <a:noFill/>
          <a:ln/>
        </p:spPr>
        <p:txBody>
          <a:bodyPr wrap="square" lIns="0" tIns="0" rIns="0" bIns="0" rtlCol="0" anchor="ctr"/>
          <a:lstStyle/>
          <a:p>
            <a:pPr indent="0" marL="0">
              <a:buNone/>
            </a:pPr>
            <a:r>
              <a:rPr lang="en-US" sz="1300" b="1" dirty="0">
                <a:solidFill>
                  <a:srgbClr val="158158"/>
                </a:solidFill>
                <a:latin typeface="Calibri" pitchFamily="34" charset="0"/>
                <a:ea typeface="Calibri" pitchFamily="34" charset="-122"/>
                <a:cs typeface="Calibri" pitchFamily="34" charset="-120"/>
              </a:rPr>
              <a:t>Resolution time by month</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852928"/>
          <a:ext cx="4572000" cy="914400"/>
        </p:xfrm>
        <a:graphic>
          <a:graphicData uri="http://schemas.openxmlformats.org/drawingml/2006/table">
            <a:tbl>
              <a:tblPr/>
              <a:tblGrid>
                <a:gridCol w="1051560"/>
                <a:gridCol w="914400"/>
                <a:gridCol w="960120"/>
                <a:gridCol w="822960"/>
                <a:gridCol w="82296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Month</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Created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Completed</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Avg. days</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same day</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58158"/>
                    </a:solidFill>
                  </a:tcPr>
                </a:tc>
              </a:tr>
              <a:tr h="347472">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Jul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72%</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47472">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Aug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4.1</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A44"/>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347472">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Sep - 26</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240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170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0.8</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c>
                  <a:txBody>
                    <a:bodyPr/>
                    <a:lstStyle/>
                    <a:p>
                      <a:pPr algn="ctr" indent="0" marL="0">
                        <a:buNone/>
                      </a:pPr>
                      <a:r>
                        <a:rPr lang="en-US" sz="1100" b="1" dirty="0">
                          <a:solidFill>
                            <a:srgbClr val="1F2A44"/>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9F3EF"/>
                    </a:solidFill>
                  </a:tcPr>
                </a:tc>
              </a:tr>
            </a:tbl>
          </a:graphicData>
        </a:graphic>
      </p:graphicFrame>
      <p:graphicFrame>
        <p:nvGraphicFramePr>
          <p:cNvPr id="19" name="Chart 0" descr=""/>
          <p:cNvGraphicFramePr/>
          <p:nvPr/>
        </p:nvGraphicFramePr>
        <p:xfrm>
          <a:off x="5394960" y="2468880"/>
          <a:ext cx="3474720" cy="233172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2026-10-20T01:15:53Z</dcterms:created>
  <dcterms:modified xsi:type="dcterms:W3CDTF">2026-10-20T01:15:53Z</dcterms:modified>
</cp:coreProperties>
</file>