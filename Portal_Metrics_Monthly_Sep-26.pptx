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Uploads — the whole team's work: submitting our clients' invoices across every customer portal. Numbers are cut off at September 30 (October excluded).
In September we handled 85 upload requests and resolved 73 within the month, at 0.7 days on average and 85% resolved same-day.
The trend keeps improving: 2.9 days in July, 1.7 in August, 0.7 in September.
The donut shows how fast we close them — the large majority are same-day.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Tesorio Tasks — how we track that same portal work end to end. Cut off at September 30.
In September we completed 170 tasks within the month at 0.8 days on average, 80% same-day, with 72 still open at month-end (most resolved in early October).
The bar chart shows which platforms we use most: Coupa and Ariba carry the bulk of our volume, then Taulia.
Opportunity: the slowest cases are URL-based ones with no standing access — getting access set up up front closes that gap. Speed and accuracy here get us paid faster and bring down DSO, while making it easier for the client to process and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66928"/>
          </a:xfrm>
          <a:prstGeom prst="rect">
            <a:avLst/>
          </a:prstGeom>
        </p:spPr>
      </p:pic>
      <p:sp>
        <p:nvSpPr>
          <p:cNvPr id="3" name="Text 0"/>
          <p:cNvSpPr txBox="1"/>
          <p:nvPr/>
        </p:nvSpPr>
        <p:spPr>
          <a:xfrm>
            <a:off x="7040880" y="118872"/>
            <a:ext cx="1920240" cy="329184"/>
          </a:xfrm>
          <a:prstGeom prst="rect">
            <a:avLst/>
          </a:prstGeom>
          <a:noFill/>
          <a:ln/>
        </p:spPr>
        <p:txBody>
          <a:bodyPr wrap="square" lIns="0" tIns="0" rIns="0" bIns="0" rtlCol="0" anchor="ctr"/>
          <a:lstStyle/>
          <a:p>
            <a:pPr algn="r" indent="0" marL="0">
              <a:buNone/>
            </a:pPr>
            <a:r>
              <a:rPr lang="en-US" sz="1700" b="1" dirty="0">
                <a:solidFill>
                  <a:srgbClr val="FFFFFF"/>
                </a:solidFill>
                <a:latin typeface="Calibri" pitchFamily="34" charset="0"/>
                <a:ea typeface="Calibri" pitchFamily="34" charset="-122"/>
                <a:cs typeface="Calibri" pitchFamily="34" charset="-120"/>
              </a:rPr>
              <a:t>qualtrics</a:t>
            </a:r>
            <a:pPr algn="r" indent="0" marL="0">
              <a:buNone/>
            </a:pPr>
            <a:r>
              <a:rPr lang="en-US" sz="900" b="1" baseline="30000" dirty="0">
                <a:solidFill>
                  <a:srgbClr val="FFFFFF"/>
                </a:solidFill>
                <a:latin typeface="Calibri" pitchFamily="34" charset="0"/>
                <a:ea typeface="Calibri" pitchFamily="34" charset="-122"/>
                <a:cs typeface="Calibri" pitchFamily="34" charset="-120"/>
              </a:rPr>
              <a:t>XM</a:t>
            </a:r>
            <a:endParaRPr lang="en-US" sz="1700" dirty="0"/>
          </a:p>
        </p:txBody>
      </p:sp>
      <p:sp>
        <p:nvSpPr>
          <p:cNvPr id="4" name="Text 1"/>
          <p:cNvSpPr txBox="1"/>
          <p:nvPr/>
        </p:nvSpPr>
        <p:spPr>
          <a:xfrm>
            <a:off x="457200" y="713232"/>
            <a:ext cx="8229600" cy="457200"/>
          </a:xfrm>
          <a:prstGeom prst="rect">
            <a:avLst/>
          </a:prstGeom>
          <a:noFill/>
          <a:ln/>
        </p:spPr>
        <p:txBody>
          <a:bodyPr wrap="square" lIns="0" tIns="0" rIns="0" bIns="0" rtlCol="0" anchor="ctr"/>
          <a:lstStyle/>
          <a:p>
            <a:pPr indent="0" marL="0">
              <a:buNone/>
            </a:pPr>
            <a:r>
              <a:rPr lang="en-US" sz="2400" b="1" dirty="0">
                <a:solidFill>
                  <a:srgbClr val="158158"/>
                </a:solidFill>
                <a:latin typeface="Calibri" pitchFamily="34" charset="0"/>
                <a:ea typeface="Calibri" pitchFamily="34" charset="-122"/>
                <a:cs typeface="Calibri" pitchFamily="34" charset="-120"/>
              </a:rPr>
              <a:t>Portal Uploads  ·  Sep - 26</a:t>
            </a:r>
            <a:endParaRPr lang="en-US" sz="2400" dirty="0"/>
          </a:p>
        </p:txBody>
      </p:sp>
      <p:sp>
        <p:nvSpPr>
          <p:cNvPr id="5" name="Shape 2"/>
          <p:cNvSpPr/>
          <p:nvPr/>
        </p:nvSpPr>
        <p:spPr>
          <a:xfrm>
            <a:off x="457200" y="1325880"/>
            <a:ext cx="1965960" cy="960120"/>
          </a:xfrm>
          <a:prstGeom prst="roundRect">
            <a:avLst>
              <a:gd name="adj" fmla="val 6667"/>
            </a:avLst>
          </a:prstGeom>
          <a:solidFill>
            <a:srgbClr val="F3F5F7"/>
          </a:solidFill>
          <a:ln/>
        </p:spPr>
      </p:sp>
      <p:sp>
        <p:nvSpPr>
          <p:cNvPr id="6" name="Text 3"/>
          <p:cNvSpPr txBox="1"/>
          <p:nvPr/>
        </p:nvSpPr>
        <p:spPr>
          <a:xfrm>
            <a:off x="457200" y="1417320"/>
            <a:ext cx="1965960" cy="502920"/>
          </a:xfrm>
          <a:prstGeom prst="rect">
            <a:avLst/>
          </a:prstGeom>
          <a:noFill/>
          <a:ln/>
        </p:spPr>
        <p:txBody>
          <a:bodyPr wrap="square" lIns="0" tIns="0" rIns="0" bIns="0" rtlCol="0" anchor="ctr"/>
          <a:lstStyle/>
          <a:p>
            <a:pPr algn="ctr" indent="0" marL="0">
              <a:buNone/>
            </a:pPr>
            <a:r>
              <a:rPr lang="en-US" sz="2800" b="1" dirty="0">
                <a:solidFill>
                  <a:srgbClr val="4292E1"/>
                </a:solidFill>
                <a:latin typeface="Calibri" pitchFamily="34" charset="0"/>
                <a:ea typeface="Calibri" pitchFamily="34" charset="-122"/>
                <a:cs typeface="Calibri" pitchFamily="34" charset="-120"/>
              </a:rPr>
              <a:t>85</a:t>
            </a:r>
            <a:endParaRPr lang="en-US" sz="2800" dirty="0"/>
          </a:p>
        </p:txBody>
      </p:sp>
      <p:sp>
        <p:nvSpPr>
          <p:cNvPr id="7" name="Text 4"/>
          <p:cNvSpPr txBox="1"/>
          <p:nvPr/>
        </p:nvSpPr>
        <p:spPr>
          <a:xfrm>
            <a:off x="457200"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Uploads</a:t>
            </a:r>
            <a:endParaRPr lang="en-US" sz="1100" dirty="0"/>
          </a:p>
        </p:txBody>
      </p:sp>
      <p:sp>
        <p:nvSpPr>
          <p:cNvPr id="8" name="Shape 5"/>
          <p:cNvSpPr/>
          <p:nvPr/>
        </p:nvSpPr>
        <p:spPr>
          <a:xfrm>
            <a:off x="2542032" y="1325880"/>
            <a:ext cx="1965960" cy="960120"/>
          </a:xfrm>
          <a:prstGeom prst="roundRect">
            <a:avLst>
              <a:gd name="adj" fmla="val 6667"/>
            </a:avLst>
          </a:prstGeom>
          <a:solidFill>
            <a:srgbClr val="F3F5F7"/>
          </a:solidFill>
          <a:ln/>
        </p:spPr>
      </p:sp>
      <p:sp>
        <p:nvSpPr>
          <p:cNvPr id="9" name="Text 6"/>
          <p:cNvSpPr txBox="1"/>
          <p:nvPr/>
        </p:nvSpPr>
        <p:spPr>
          <a:xfrm>
            <a:off x="2542032" y="1417320"/>
            <a:ext cx="1965960" cy="502920"/>
          </a:xfrm>
          <a:prstGeom prst="rect">
            <a:avLst/>
          </a:prstGeom>
          <a:noFill/>
          <a:ln/>
        </p:spPr>
        <p:txBody>
          <a:bodyPr wrap="square" lIns="0" tIns="0" rIns="0" bIns="0" rtlCol="0" anchor="ctr"/>
          <a:lstStyle/>
          <a:p>
            <a:pPr algn="ctr" indent="0" marL="0">
              <a:buNone/>
            </a:pPr>
            <a:r>
              <a:rPr lang="en-US" sz="2800" b="1" dirty="0">
                <a:solidFill>
                  <a:srgbClr val="34B78F"/>
                </a:solidFill>
                <a:latin typeface="Calibri" pitchFamily="34" charset="0"/>
                <a:ea typeface="Calibri" pitchFamily="34" charset="-122"/>
                <a:cs typeface="Calibri" pitchFamily="34" charset="-120"/>
              </a:rPr>
              <a:t>73</a:t>
            </a:r>
            <a:endParaRPr lang="en-US" sz="2800" dirty="0"/>
          </a:p>
        </p:txBody>
      </p:sp>
      <p:sp>
        <p:nvSpPr>
          <p:cNvPr id="10" name="Text 7"/>
          <p:cNvSpPr txBox="1"/>
          <p:nvPr/>
        </p:nvSpPr>
        <p:spPr>
          <a:xfrm>
            <a:off x="2542032"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Resolved</a:t>
            </a:r>
            <a:endParaRPr lang="en-US" sz="1100" dirty="0"/>
          </a:p>
        </p:txBody>
      </p:sp>
      <p:sp>
        <p:nvSpPr>
          <p:cNvPr id="11" name="Shape 8"/>
          <p:cNvSpPr/>
          <p:nvPr/>
        </p:nvSpPr>
        <p:spPr>
          <a:xfrm>
            <a:off x="4626864" y="1325880"/>
            <a:ext cx="1965960" cy="960120"/>
          </a:xfrm>
          <a:prstGeom prst="roundRect">
            <a:avLst>
              <a:gd name="adj" fmla="val 6667"/>
            </a:avLst>
          </a:prstGeom>
          <a:solidFill>
            <a:srgbClr val="F3F5F7"/>
          </a:solidFill>
          <a:ln/>
        </p:spPr>
      </p:sp>
      <p:sp>
        <p:nvSpPr>
          <p:cNvPr id="12" name="Text 9"/>
          <p:cNvSpPr txBox="1"/>
          <p:nvPr/>
        </p:nvSpPr>
        <p:spPr>
          <a:xfrm>
            <a:off x="4626864" y="1417320"/>
            <a:ext cx="1965960" cy="502920"/>
          </a:xfrm>
          <a:prstGeom prst="rect">
            <a:avLst/>
          </a:prstGeom>
          <a:noFill/>
          <a:ln/>
        </p:spPr>
        <p:txBody>
          <a:bodyPr wrap="square" lIns="0" tIns="0" rIns="0" bIns="0" rtlCol="0" anchor="ctr"/>
          <a:lstStyle/>
          <a:p>
            <a:pPr algn="ctr" indent="0" marL="0">
              <a:buNone/>
            </a:pPr>
            <a:r>
              <a:rPr lang="en-US" sz="2800" b="1" dirty="0">
                <a:solidFill>
                  <a:srgbClr val="ED8B1B"/>
                </a:solidFill>
                <a:latin typeface="Calibri" pitchFamily="34" charset="0"/>
                <a:ea typeface="Calibri" pitchFamily="34" charset="-122"/>
                <a:cs typeface="Calibri" pitchFamily="34" charset="-120"/>
              </a:rPr>
              <a:t>0.7 d</a:t>
            </a:r>
            <a:endParaRPr lang="en-US" sz="2800" dirty="0"/>
          </a:p>
        </p:txBody>
      </p:sp>
      <p:sp>
        <p:nvSpPr>
          <p:cNvPr id="13" name="Text 10"/>
          <p:cNvSpPr txBox="1"/>
          <p:nvPr/>
        </p:nvSpPr>
        <p:spPr>
          <a:xfrm>
            <a:off x="4626864"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Avg. resolution</a:t>
            </a:r>
            <a:endParaRPr lang="en-US" sz="1100" dirty="0"/>
          </a:p>
        </p:txBody>
      </p:sp>
      <p:sp>
        <p:nvSpPr>
          <p:cNvPr id="14" name="Shape 11"/>
          <p:cNvSpPr/>
          <p:nvPr/>
        </p:nvSpPr>
        <p:spPr>
          <a:xfrm>
            <a:off x="6711696" y="1325880"/>
            <a:ext cx="1965960" cy="960120"/>
          </a:xfrm>
          <a:prstGeom prst="roundRect">
            <a:avLst>
              <a:gd name="adj" fmla="val 6667"/>
            </a:avLst>
          </a:prstGeom>
          <a:solidFill>
            <a:srgbClr val="F3F5F7"/>
          </a:solidFill>
          <a:ln/>
        </p:spPr>
      </p:sp>
      <p:sp>
        <p:nvSpPr>
          <p:cNvPr id="15" name="Text 12"/>
          <p:cNvSpPr txBox="1"/>
          <p:nvPr/>
        </p:nvSpPr>
        <p:spPr>
          <a:xfrm>
            <a:off x="6711696" y="1417320"/>
            <a:ext cx="1965960" cy="502920"/>
          </a:xfrm>
          <a:prstGeom prst="rect">
            <a:avLst/>
          </a:prstGeom>
          <a:noFill/>
          <a:ln/>
        </p:spPr>
        <p:txBody>
          <a:bodyPr wrap="square" lIns="0" tIns="0" rIns="0" bIns="0" rtlCol="0" anchor="ctr"/>
          <a:lstStyle/>
          <a:p>
            <a:pPr algn="ctr" indent="0" marL="0">
              <a:buNone/>
            </a:pPr>
            <a:r>
              <a:rPr lang="en-US" sz="2800" b="1" dirty="0">
                <a:solidFill>
                  <a:srgbClr val="50B432"/>
                </a:solidFill>
                <a:latin typeface="Calibri" pitchFamily="34" charset="0"/>
                <a:ea typeface="Calibri" pitchFamily="34" charset="-122"/>
                <a:cs typeface="Calibri" pitchFamily="34" charset="-120"/>
              </a:rPr>
              <a:t>85%</a:t>
            </a:r>
            <a:endParaRPr lang="en-US" sz="2800" dirty="0"/>
          </a:p>
        </p:txBody>
      </p:sp>
      <p:sp>
        <p:nvSpPr>
          <p:cNvPr id="16" name="Text 13"/>
          <p:cNvSpPr txBox="1"/>
          <p:nvPr/>
        </p:nvSpPr>
        <p:spPr>
          <a:xfrm>
            <a:off x="6711696"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Same-day</a:t>
            </a:r>
            <a:endParaRPr lang="en-US" sz="1100" dirty="0"/>
          </a:p>
        </p:txBody>
      </p:sp>
      <p:sp>
        <p:nvSpPr>
          <p:cNvPr id="17" name="Text 14"/>
          <p:cNvSpPr txBox="1"/>
          <p:nvPr/>
        </p:nvSpPr>
        <p:spPr>
          <a:xfrm>
            <a:off x="457200" y="2514600"/>
            <a:ext cx="4572000" cy="292608"/>
          </a:xfrm>
          <a:prstGeom prst="rect">
            <a:avLst/>
          </a:prstGeom>
          <a:noFill/>
          <a:ln/>
        </p:spPr>
        <p:txBody>
          <a:bodyPr wrap="square" lIns="0" tIns="0" rIns="0" bIns="0" rtlCol="0" anchor="ctr"/>
          <a:lstStyle/>
          <a:p>
            <a:pPr indent="0" marL="0">
              <a:buNone/>
            </a:pPr>
            <a:r>
              <a:rPr lang="en-US" sz="1300" b="1" dirty="0">
                <a:solidFill>
                  <a:srgbClr val="158158"/>
                </a:solidFill>
                <a:latin typeface="Calibri" pitchFamily="34" charset="0"/>
                <a:ea typeface="Calibri" pitchFamily="34" charset="-122"/>
                <a:cs typeface="Calibri" pitchFamily="34" charset="-120"/>
              </a:rPr>
              <a:t>Resolution time by month</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2852928"/>
          <a:ext cx="4572000" cy="914400"/>
        </p:xfrm>
        <a:graphic>
          <a:graphicData uri="http://schemas.openxmlformats.org/drawingml/2006/table">
            <a:tbl>
              <a:tblPr/>
              <a:tblGrid>
                <a:gridCol w="1051560"/>
                <a:gridCol w="914400"/>
                <a:gridCol w="914400"/>
                <a:gridCol w="822960"/>
                <a:gridCol w="868680"/>
              </a:tblGrid>
              <a:tr h="34747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Uploads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Resolved</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Avg. days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same day</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r>
              <a:tr h="347472">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Jul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61</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Aug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81%</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100" b="1" dirty="0">
                          <a:solidFill>
                            <a:srgbClr val="1F2A44"/>
                          </a:solidFill>
                          <a:latin typeface="Calibri" pitchFamily="34" charset="0"/>
                          <a:ea typeface="Calibri" pitchFamily="34" charset="-122"/>
                          <a:cs typeface="Calibri" pitchFamily="34" charset="-120"/>
                        </a:rPr>
                        <a:t>Sep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73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0.7</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r>
            </a:tbl>
          </a:graphicData>
        </a:graphic>
      </p:graphicFrame>
      <p:sp>
        <p:nvSpPr>
          <p:cNvPr id="19" name="Text 15"/>
          <p:cNvSpPr txBox="1"/>
          <p:nvPr/>
        </p:nvSpPr>
        <p:spPr>
          <a:xfrm>
            <a:off x="5394960" y="2542032"/>
            <a:ext cx="3474720" cy="256032"/>
          </a:xfrm>
          <a:prstGeom prst="rect">
            <a:avLst/>
          </a:prstGeom>
          <a:noFill/>
          <a:ln/>
        </p:spPr>
        <p:txBody>
          <a:bodyPr wrap="square" lIns="0" tIns="0" rIns="0" bIns="0" rtlCol="0" anchor="ctr"/>
          <a:lstStyle/>
          <a:p>
            <a:pPr indent="0" marL="0">
              <a:buNone/>
            </a:pPr>
            <a:r>
              <a:rPr lang="en-US" sz="1200" b="1" dirty="0">
                <a:solidFill>
                  <a:srgbClr val="158158"/>
                </a:solidFill>
                <a:latin typeface="Calibri" pitchFamily="34" charset="0"/>
                <a:ea typeface="Calibri" pitchFamily="34" charset="-122"/>
                <a:cs typeface="Calibri" pitchFamily="34" charset="-120"/>
              </a:rPr>
              <a:t>Resolution distribution</a:t>
            </a:r>
            <a:endParaRPr lang="en-US" sz="1200" dirty="0"/>
          </a:p>
        </p:txBody>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5394960" y="2880360"/>
          <a:ext cx="3474720" cy="914400"/>
        </p:xfrm>
        <a:graphic>
          <a:graphicData uri="http://schemas.openxmlformats.org/drawingml/2006/table">
            <a:tbl>
              <a:tblPr/>
              <a:tblGrid>
                <a:gridCol w="1737360"/>
                <a:gridCol w="914400"/>
                <a:gridCol w="822960"/>
              </a:tblGrid>
              <a:tr h="27432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Range</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Uploads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of total</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r>
              <a:tr h="274320">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Same day (&lt; 24 h)</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84.9%</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1 – 2 days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13.7%</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2 – 4 days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0.0%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4 – 7 days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0.0%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More than 7 days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A44"/>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73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66928"/>
          </a:xfrm>
          <a:prstGeom prst="rect">
            <a:avLst/>
          </a:prstGeom>
        </p:spPr>
      </p:pic>
      <p:sp>
        <p:nvSpPr>
          <p:cNvPr id="3" name="Text 0"/>
          <p:cNvSpPr txBox="1"/>
          <p:nvPr/>
        </p:nvSpPr>
        <p:spPr>
          <a:xfrm>
            <a:off x="7040880" y="118872"/>
            <a:ext cx="1920240" cy="329184"/>
          </a:xfrm>
          <a:prstGeom prst="rect">
            <a:avLst/>
          </a:prstGeom>
          <a:noFill/>
          <a:ln/>
        </p:spPr>
        <p:txBody>
          <a:bodyPr wrap="square" lIns="0" tIns="0" rIns="0" bIns="0" rtlCol="0" anchor="ctr"/>
          <a:lstStyle/>
          <a:p>
            <a:pPr algn="r" indent="0" marL="0">
              <a:buNone/>
            </a:pPr>
            <a:r>
              <a:rPr lang="en-US" sz="1700" b="1" dirty="0">
                <a:solidFill>
                  <a:srgbClr val="FFFFFF"/>
                </a:solidFill>
                <a:latin typeface="Calibri" pitchFamily="34" charset="0"/>
                <a:ea typeface="Calibri" pitchFamily="34" charset="-122"/>
                <a:cs typeface="Calibri" pitchFamily="34" charset="-120"/>
              </a:rPr>
              <a:t>qualtrics</a:t>
            </a:r>
            <a:pPr algn="r" indent="0" marL="0">
              <a:buNone/>
            </a:pPr>
            <a:r>
              <a:rPr lang="en-US" sz="900" b="1" baseline="30000" dirty="0">
                <a:solidFill>
                  <a:srgbClr val="FFFFFF"/>
                </a:solidFill>
                <a:latin typeface="Calibri" pitchFamily="34" charset="0"/>
                <a:ea typeface="Calibri" pitchFamily="34" charset="-122"/>
                <a:cs typeface="Calibri" pitchFamily="34" charset="-120"/>
              </a:rPr>
              <a:t>XM</a:t>
            </a:r>
            <a:endParaRPr lang="en-US" sz="1700" dirty="0"/>
          </a:p>
        </p:txBody>
      </p:sp>
      <p:sp>
        <p:nvSpPr>
          <p:cNvPr id="4" name="Text 1"/>
          <p:cNvSpPr txBox="1"/>
          <p:nvPr/>
        </p:nvSpPr>
        <p:spPr>
          <a:xfrm>
            <a:off x="457200" y="713232"/>
            <a:ext cx="8229600" cy="457200"/>
          </a:xfrm>
          <a:prstGeom prst="rect">
            <a:avLst/>
          </a:prstGeom>
          <a:noFill/>
          <a:ln/>
        </p:spPr>
        <p:txBody>
          <a:bodyPr wrap="square" lIns="0" tIns="0" rIns="0" bIns="0" rtlCol="0" anchor="ctr"/>
          <a:lstStyle/>
          <a:p>
            <a:pPr indent="0" marL="0">
              <a:buNone/>
            </a:pPr>
            <a:r>
              <a:rPr lang="en-US" sz="2400" b="1" dirty="0">
                <a:solidFill>
                  <a:srgbClr val="158158"/>
                </a:solidFill>
                <a:latin typeface="Calibri" pitchFamily="34" charset="0"/>
                <a:ea typeface="Calibri" pitchFamily="34" charset="-122"/>
                <a:cs typeface="Calibri" pitchFamily="34" charset="-120"/>
              </a:rPr>
              <a:t>Tesorio Tasks  ·  Sep - 26</a:t>
            </a:r>
            <a:endParaRPr lang="en-US" sz="2400" dirty="0"/>
          </a:p>
        </p:txBody>
      </p:sp>
      <p:sp>
        <p:nvSpPr>
          <p:cNvPr id="5" name="Shape 2"/>
          <p:cNvSpPr/>
          <p:nvPr/>
        </p:nvSpPr>
        <p:spPr>
          <a:xfrm>
            <a:off x="457200" y="1325880"/>
            <a:ext cx="1965960" cy="960120"/>
          </a:xfrm>
          <a:prstGeom prst="roundRect">
            <a:avLst>
              <a:gd name="adj" fmla="val 6667"/>
            </a:avLst>
          </a:prstGeom>
          <a:solidFill>
            <a:srgbClr val="F3F5F7"/>
          </a:solidFill>
          <a:ln/>
        </p:spPr>
      </p:sp>
      <p:sp>
        <p:nvSpPr>
          <p:cNvPr id="6" name="Text 3"/>
          <p:cNvSpPr txBox="1"/>
          <p:nvPr/>
        </p:nvSpPr>
        <p:spPr>
          <a:xfrm>
            <a:off x="457200" y="1417320"/>
            <a:ext cx="1965960" cy="502920"/>
          </a:xfrm>
          <a:prstGeom prst="rect">
            <a:avLst/>
          </a:prstGeom>
          <a:noFill/>
          <a:ln/>
        </p:spPr>
        <p:txBody>
          <a:bodyPr wrap="square" lIns="0" tIns="0" rIns="0" bIns="0" rtlCol="0" anchor="ctr"/>
          <a:lstStyle/>
          <a:p>
            <a:pPr algn="ctr" indent="0" marL="0">
              <a:buNone/>
            </a:pPr>
            <a:r>
              <a:rPr lang="en-US" sz="2800" b="1" dirty="0">
                <a:solidFill>
                  <a:srgbClr val="4292E1"/>
                </a:solidFill>
                <a:latin typeface="Calibri" pitchFamily="34" charset="0"/>
                <a:ea typeface="Calibri" pitchFamily="34" charset="-122"/>
                <a:cs typeface="Calibri" pitchFamily="34" charset="-120"/>
              </a:rPr>
              <a:t>170</a:t>
            </a:r>
            <a:endParaRPr lang="en-US" sz="2800" dirty="0"/>
          </a:p>
        </p:txBody>
      </p:sp>
      <p:sp>
        <p:nvSpPr>
          <p:cNvPr id="7" name="Text 4"/>
          <p:cNvSpPr txBox="1"/>
          <p:nvPr/>
        </p:nvSpPr>
        <p:spPr>
          <a:xfrm>
            <a:off x="457200"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Completed</a:t>
            </a:r>
            <a:endParaRPr lang="en-US" sz="1100" dirty="0"/>
          </a:p>
        </p:txBody>
      </p:sp>
      <p:sp>
        <p:nvSpPr>
          <p:cNvPr id="8" name="Shape 5"/>
          <p:cNvSpPr/>
          <p:nvPr/>
        </p:nvSpPr>
        <p:spPr>
          <a:xfrm>
            <a:off x="2542032" y="1325880"/>
            <a:ext cx="1965960" cy="960120"/>
          </a:xfrm>
          <a:prstGeom prst="roundRect">
            <a:avLst>
              <a:gd name="adj" fmla="val 6667"/>
            </a:avLst>
          </a:prstGeom>
          <a:solidFill>
            <a:srgbClr val="F3F5F7"/>
          </a:solidFill>
          <a:ln/>
        </p:spPr>
      </p:sp>
      <p:sp>
        <p:nvSpPr>
          <p:cNvPr id="9" name="Text 6"/>
          <p:cNvSpPr txBox="1"/>
          <p:nvPr/>
        </p:nvSpPr>
        <p:spPr>
          <a:xfrm>
            <a:off x="2542032" y="1417320"/>
            <a:ext cx="1965960" cy="502920"/>
          </a:xfrm>
          <a:prstGeom prst="rect">
            <a:avLst/>
          </a:prstGeom>
          <a:noFill/>
          <a:ln/>
        </p:spPr>
        <p:txBody>
          <a:bodyPr wrap="square" lIns="0" tIns="0" rIns="0" bIns="0" rtlCol="0" anchor="ctr"/>
          <a:lstStyle/>
          <a:p>
            <a:pPr algn="ctr" indent="0" marL="0">
              <a:buNone/>
            </a:pPr>
            <a:r>
              <a:rPr lang="en-US" sz="2800" b="1" dirty="0">
                <a:solidFill>
                  <a:srgbClr val="ED8B1B"/>
                </a:solidFill>
                <a:latin typeface="Calibri" pitchFamily="34" charset="0"/>
                <a:ea typeface="Calibri" pitchFamily="34" charset="-122"/>
                <a:cs typeface="Calibri" pitchFamily="34" charset="-120"/>
              </a:rPr>
              <a:t>0.8 d</a:t>
            </a:r>
            <a:endParaRPr lang="en-US" sz="2800" dirty="0"/>
          </a:p>
        </p:txBody>
      </p:sp>
      <p:sp>
        <p:nvSpPr>
          <p:cNvPr id="10" name="Text 7"/>
          <p:cNvSpPr txBox="1"/>
          <p:nvPr/>
        </p:nvSpPr>
        <p:spPr>
          <a:xfrm>
            <a:off x="2542032"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Avg. resolution</a:t>
            </a:r>
            <a:endParaRPr lang="en-US" sz="1100" dirty="0"/>
          </a:p>
        </p:txBody>
      </p:sp>
      <p:sp>
        <p:nvSpPr>
          <p:cNvPr id="11" name="Shape 8"/>
          <p:cNvSpPr/>
          <p:nvPr/>
        </p:nvSpPr>
        <p:spPr>
          <a:xfrm>
            <a:off x="4626864" y="1325880"/>
            <a:ext cx="1965960" cy="960120"/>
          </a:xfrm>
          <a:prstGeom prst="roundRect">
            <a:avLst>
              <a:gd name="adj" fmla="val 6667"/>
            </a:avLst>
          </a:prstGeom>
          <a:solidFill>
            <a:srgbClr val="F3F5F7"/>
          </a:solidFill>
          <a:ln/>
        </p:spPr>
      </p:sp>
      <p:sp>
        <p:nvSpPr>
          <p:cNvPr id="12" name="Text 9"/>
          <p:cNvSpPr txBox="1"/>
          <p:nvPr/>
        </p:nvSpPr>
        <p:spPr>
          <a:xfrm>
            <a:off x="4626864" y="1417320"/>
            <a:ext cx="1965960" cy="502920"/>
          </a:xfrm>
          <a:prstGeom prst="rect">
            <a:avLst/>
          </a:prstGeom>
          <a:noFill/>
          <a:ln/>
        </p:spPr>
        <p:txBody>
          <a:bodyPr wrap="square" lIns="0" tIns="0" rIns="0" bIns="0" rtlCol="0" anchor="ctr"/>
          <a:lstStyle/>
          <a:p>
            <a:pPr algn="ctr" indent="0" marL="0">
              <a:buNone/>
            </a:pPr>
            <a:r>
              <a:rPr lang="en-US" sz="2800" b="1" dirty="0">
                <a:solidFill>
                  <a:srgbClr val="50B432"/>
                </a:solidFill>
                <a:latin typeface="Calibri" pitchFamily="34" charset="0"/>
                <a:ea typeface="Calibri" pitchFamily="34" charset="-122"/>
                <a:cs typeface="Calibri" pitchFamily="34" charset="-120"/>
              </a:rPr>
              <a:t>80%</a:t>
            </a:r>
            <a:endParaRPr lang="en-US" sz="2800" dirty="0"/>
          </a:p>
        </p:txBody>
      </p:sp>
      <p:sp>
        <p:nvSpPr>
          <p:cNvPr id="13" name="Text 10"/>
          <p:cNvSpPr txBox="1"/>
          <p:nvPr/>
        </p:nvSpPr>
        <p:spPr>
          <a:xfrm>
            <a:off x="4626864"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Same-day</a:t>
            </a:r>
            <a:endParaRPr lang="en-US" sz="1100" dirty="0"/>
          </a:p>
        </p:txBody>
      </p:sp>
      <p:sp>
        <p:nvSpPr>
          <p:cNvPr id="14" name="Shape 11"/>
          <p:cNvSpPr/>
          <p:nvPr/>
        </p:nvSpPr>
        <p:spPr>
          <a:xfrm>
            <a:off x="6711696" y="1325880"/>
            <a:ext cx="1965960" cy="960120"/>
          </a:xfrm>
          <a:prstGeom prst="roundRect">
            <a:avLst>
              <a:gd name="adj" fmla="val 6667"/>
            </a:avLst>
          </a:prstGeom>
          <a:solidFill>
            <a:srgbClr val="F3F5F7"/>
          </a:solidFill>
          <a:ln/>
        </p:spPr>
      </p:sp>
      <p:sp>
        <p:nvSpPr>
          <p:cNvPr id="15" name="Text 12"/>
          <p:cNvSpPr txBox="1"/>
          <p:nvPr/>
        </p:nvSpPr>
        <p:spPr>
          <a:xfrm>
            <a:off x="6711696" y="1417320"/>
            <a:ext cx="1965960" cy="502920"/>
          </a:xfrm>
          <a:prstGeom prst="rect">
            <a:avLst/>
          </a:prstGeom>
          <a:noFill/>
          <a:ln/>
        </p:spPr>
        <p:txBody>
          <a:bodyPr wrap="square" lIns="0" tIns="0" rIns="0" bIns="0" rtlCol="0" anchor="ctr"/>
          <a:lstStyle/>
          <a:p>
            <a:pPr algn="ctr" indent="0" marL="0">
              <a:buNone/>
            </a:pPr>
            <a:r>
              <a:rPr lang="en-US" sz="2800" b="1" dirty="0">
                <a:solidFill>
                  <a:srgbClr val="34B78F"/>
                </a:solidFill>
                <a:latin typeface="Calibri" pitchFamily="34" charset="0"/>
                <a:ea typeface="Calibri" pitchFamily="34" charset="-122"/>
                <a:cs typeface="Calibri" pitchFamily="34" charset="-120"/>
              </a:rPr>
              <a:t>72</a:t>
            </a:r>
            <a:endParaRPr lang="en-US" sz="2800" dirty="0"/>
          </a:p>
        </p:txBody>
      </p:sp>
      <p:sp>
        <p:nvSpPr>
          <p:cNvPr id="16" name="Text 13"/>
          <p:cNvSpPr txBox="1"/>
          <p:nvPr/>
        </p:nvSpPr>
        <p:spPr>
          <a:xfrm>
            <a:off x="6711696" y="1929384"/>
            <a:ext cx="1965960" cy="292608"/>
          </a:xfrm>
          <a:prstGeom prst="rect">
            <a:avLst/>
          </a:prstGeom>
          <a:noFill/>
          <a:ln/>
        </p:spPr>
        <p:txBody>
          <a:bodyPr wrap="square" lIns="0" tIns="0" rIns="0" bIns="0" rtlCol="0" anchor="ctr"/>
          <a:lstStyle/>
          <a:p>
            <a:pPr algn="ctr" indent="0" marL="0">
              <a:buNone/>
            </a:pPr>
            <a:r>
              <a:rPr lang="en-US" sz="1100" dirty="0">
                <a:solidFill>
                  <a:srgbClr val="6B7B84"/>
                </a:solidFill>
                <a:latin typeface="Calibri" pitchFamily="34" charset="0"/>
                <a:ea typeface="Calibri" pitchFamily="34" charset="-122"/>
                <a:cs typeface="Calibri" pitchFamily="34" charset="-120"/>
              </a:rPr>
              <a:t>Open (Sep 30)</a:t>
            </a:r>
            <a:endParaRPr lang="en-US" sz="1100" dirty="0"/>
          </a:p>
        </p:txBody>
      </p:sp>
      <p:sp>
        <p:nvSpPr>
          <p:cNvPr id="17" name="Text 14"/>
          <p:cNvSpPr txBox="1"/>
          <p:nvPr/>
        </p:nvSpPr>
        <p:spPr>
          <a:xfrm>
            <a:off x="457200" y="2514600"/>
            <a:ext cx="4572000" cy="292608"/>
          </a:xfrm>
          <a:prstGeom prst="rect">
            <a:avLst/>
          </a:prstGeom>
          <a:noFill/>
          <a:ln/>
        </p:spPr>
        <p:txBody>
          <a:bodyPr wrap="square" lIns="0" tIns="0" rIns="0" bIns="0" rtlCol="0" anchor="ctr"/>
          <a:lstStyle/>
          <a:p>
            <a:pPr indent="0" marL="0">
              <a:buNone/>
            </a:pPr>
            <a:r>
              <a:rPr lang="en-US" sz="1300" b="1" dirty="0">
                <a:solidFill>
                  <a:srgbClr val="158158"/>
                </a:solidFill>
                <a:latin typeface="Calibri" pitchFamily="34" charset="0"/>
                <a:ea typeface="Calibri" pitchFamily="34" charset="-122"/>
                <a:cs typeface="Calibri" pitchFamily="34" charset="-120"/>
              </a:rPr>
              <a:t>Resolution time by month</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52928"/>
          <a:ext cx="4572000" cy="914400"/>
        </p:xfrm>
        <a:graphic>
          <a:graphicData uri="http://schemas.openxmlformats.org/drawingml/2006/table">
            <a:tbl>
              <a:tblPr/>
              <a:tblGrid>
                <a:gridCol w="1051560"/>
                <a:gridCol w="914400"/>
                <a:gridCol w="960120"/>
                <a:gridCol w="822960"/>
                <a:gridCol w="822960"/>
              </a:tblGrid>
              <a:tr h="34747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Created</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Avg. days</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same day</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r>
              <a:tr h="347472">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Jul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100" dirty="0">
                          <a:solidFill>
                            <a:srgbClr val="1F2A44"/>
                          </a:solidFill>
                          <a:latin typeface="Calibri" pitchFamily="34" charset="0"/>
                          <a:ea typeface="Calibri" pitchFamily="34" charset="-122"/>
                          <a:cs typeface="Calibri" pitchFamily="34" charset="-120"/>
                        </a:rPr>
                        <a:t>Aug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A44"/>
                          </a:solidFill>
                          <a:latin typeface="Calibri" pitchFamily="34" charset="0"/>
                          <a:ea typeface="Calibri" pitchFamily="34" charset="-122"/>
                          <a:cs typeface="Calibri" pitchFamily="34" charset="-120"/>
                        </a:rPr>
                        <a:t>68%</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100" b="1" dirty="0">
                          <a:solidFill>
                            <a:srgbClr val="1F2A44"/>
                          </a:solidFill>
                          <a:latin typeface="Calibri" pitchFamily="34" charset="0"/>
                          <a:ea typeface="Calibri" pitchFamily="34" charset="-122"/>
                          <a:cs typeface="Calibri" pitchFamily="34" charset="-120"/>
                        </a:rPr>
                        <a:t>Sep - 26</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240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170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1100" b="1" dirty="0">
                          <a:solidFill>
                            <a:srgbClr val="1F2A44"/>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r>
            </a:tbl>
          </a:graphicData>
        </a:graphic>
      </p:graphicFrame>
      <p:sp>
        <p:nvSpPr>
          <p:cNvPr id="19" name="Text 15"/>
          <p:cNvSpPr txBox="1"/>
          <p:nvPr/>
        </p:nvSpPr>
        <p:spPr>
          <a:xfrm>
            <a:off x="5394960" y="2377440"/>
            <a:ext cx="3474720" cy="256032"/>
          </a:xfrm>
          <a:prstGeom prst="rect">
            <a:avLst/>
          </a:prstGeom>
          <a:noFill/>
          <a:ln/>
        </p:spPr>
        <p:txBody>
          <a:bodyPr wrap="square" lIns="0" tIns="0" rIns="0" bIns="0" rtlCol="0" anchor="ctr"/>
          <a:lstStyle/>
          <a:p>
            <a:pPr indent="0" marL="0">
              <a:buNone/>
            </a:pPr>
            <a:r>
              <a:rPr lang="en-US" sz="1200" b="1" dirty="0">
                <a:solidFill>
                  <a:srgbClr val="158158"/>
                </a:solidFill>
                <a:latin typeface="Calibri" pitchFamily="34" charset="0"/>
                <a:ea typeface="Calibri" pitchFamily="34" charset="-122"/>
                <a:cs typeface="Calibri" pitchFamily="34" charset="-120"/>
              </a:rPr>
              <a:t>Invoices by portal (platforms we use most)</a:t>
            </a:r>
            <a:endParaRPr lang="en-US" sz="120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5394960" y="2670048"/>
          <a:ext cx="3474720" cy="914400"/>
        </p:xfrm>
        <a:graphic>
          <a:graphicData uri="http://schemas.openxmlformats.org/drawingml/2006/table">
            <a:tbl>
              <a:tblPr/>
              <a:tblGrid>
                <a:gridCol w="1143000"/>
                <a:gridCol w="548640"/>
                <a:gridCol w="640080"/>
                <a:gridCol w="548640"/>
                <a:gridCol w="594360"/>
              </a:tblGrid>
              <a:tr h="214884">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Portal</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 Upl.</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Avg d</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 SD</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58158"/>
                    </a:solidFill>
                  </a:tcPr>
                </a:tc>
              </a:tr>
              <a:tr h="214884">
                <a:tc>
                  <a:txBody>
                    <a:bodyPr/>
                    <a:lstStyle/>
                    <a:p>
                      <a:pPr algn="l" indent="0" marL="0">
                        <a:buNone/>
                      </a:pPr>
                      <a:r>
                        <a:rPr lang="en-US" sz="900" dirty="0">
                          <a:solidFill>
                            <a:srgbClr val="1F2A44"/>
                          </a:solidFill>
                          <a:latin typeface="Calibri" pitchFamily="34" charset="0"/>
                          <a:ea typeface="Calibri" pitchFamily="34" charset="-122"/>
                          <a:cs typeface="Calibri" pitchFamily="34" charset="-120"/>
                        </a:rPr>
                        <a:t>Coupa</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28</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32.9%</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0.3</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92%</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14884">
                <a:tc>
                  <a:txBody>
                    <a:bodyPr/>
                    <a:lstStyle/>
                    <a:p>
                      <a:pPr algn="l" indent="0" marL="0">
                        <a:buNone/>
                      </a:pPr>
                      <a:r>
                        <a:rPr lang="en-US" sz="900" dirty="0">
                          <a:solidFill>
                            <a:srgbClr val="1F2A44"/>
                          </a:solidFill>
                          <a:latin typeface="Calibri" pitchFamily="34" charset="0"/>
                          <a:ea typeface="Calibri" pitchFamily="34" charset="-122"/>
                          <a:cs typeface="Calibri" pitchFamily="34" charset="-120"/>
                        </a:rPr>
                        <a:t>Ariba</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21.2%</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0.5</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86%</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14884">
                <a:tc>
                  <a:txBody>
                    <a:bodyPr/>
                    <a:lstStyle/>
                    <a:p>
                      <a:pPr algn="l" indent="0" marL="0">
                        <a:buNone/>
                      </a:pPr>
                      <a:r>
                        <a:rPr lang="en-US" sz="900" dirty="0">
                          <a:solidFill>
                            <a:srgbClr val="1F2A44"/>
                          </a:solidFill>
                          <a:latin typeface="Calibri" pitchFamily="34" charset="0"/>
                          <a:ea typeface="Calibri" pitchFamily="34" charset="-122"/>
                          <a:cs typeface="Calibri" pitchFamily="34" charset="-120"/>
                        </a:rPr>
                        <a:t>Taulia</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9</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0.4</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78%</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14884">
                <a:tc>
                  <a:txBody>
                    <a:bodyPr/>
                    <a:lstStyle/>
                    <a:p>
                      <a:pPr algn="l" indent="0" marL="0">
                        <a:buNone/>
                      </a:pPr>
                      <a:r>
                        <a:rPr lang="en-US" sz="900" dirty="0">
                          <a:solidFill>
                            <a:srgbClr val="1F2A44"/>
                          </a:solidFill>
                          <a:latin typeface="Calibri" pitchFamily="34" charset="0"/>
                          <a:ea typeface="Calibri" pitchFamily="34" charset="-122"/>
                          <a:cs typeface="Calibri" pitchFamily="34" charset="-120"/>
                        </a:rPr>
                        <a:t>URL</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7.1%</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0.7</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60%</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14884">
                <a:tc>
                  <a:txBody>
                    <a:bodyPr/>
                    <a:lstStyle/>
                    <a:p>
                      <a:pPr algn="l" indent="0" marL="0">
                        <a:buNone/>
                      </a:pPr>
                      <a:r>
                        <a:rPr lang="en-US" sz="900" dirty="0">
                          <a:solidFill>
                            <a:srgbClr val="1F2A44"/>
                          </a:solidFill>
                          <a:latin typeface="Calibri" pitchFamily="34" charset="0"/>
                          <a:ea typeface="Calibri" pitchFamily="34" charset="-122"/>
                          <a:cs typeface="Calibri" pitchFamily="34" charset="-120"/>
                        </a:rPr>
                        <a:t>Chorus Pro</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5.2</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14884">
                <a:tc>
                  <a:txBody>
                    <a:bodyPr/>
                    <a:lstStyle/>
                    <a:p>
                      <a:pPr algn="l" indent="0" marL="0">
                        <a:buNone/>
                      </a:pPr>
                      <a:r>
                        <a:rPr lang="en-US" sz="900" dirty="0">
                          <a:solidFill>
                            <a:srgbClr val="1F2A44"/>
                          </a:solidFill>
                          <a:latin typeface="Calibri" pitchFamily="34" charset="0"/>
                          <a:ea typeface="Calibri" pitchFamily="34" charset="-122"/>
                          <a:cs typeface="Calibri" pitchFamily="34" charset="-120"/>
                        </a:rPr>
                        <a:t>Oracle</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0.6</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14884">
                <a:tc>
                  <a:txBody>
                    <a:bodyPr/>
                    <a:lstStyle/>
                    <a:p>
                      <a:pPr algn="l" indent="0" marL="0">
                        <a:buNone/>
                      </a:pPr>
                      <a:r>
                        <a:rPr lang="en-US" sz="900" dirty="0">
                          <a:solidFill>
                            <a:srgbClr val="1F2A44"/>
                          </a:solidFill>
                          <a:latin typeface="Calibri" pitchFamily="34" charset="0"/>
                          <a:ea typeface="Calibri" pitchFamily="34" charset="-122"/>
                          <a:cs typeface="Calibri" pitchFamily="34" charset="-120"/>
                        </a:rPr>
                        <a:t>Ivalua</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0.6</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14884">
                <a:tc>
                  <a:txBody>
                    <a:bodyPr/>
                    <a:lstStyle/>
                    <a:p>
                      <a:pPr algn="l" indent="0" marL="0">
                        <a:buNone/>
                      </a:pPr>
                      <a:r>
                        <a:rPr lang="en-US" sz="900" dirty="0">
                          <a:solidFill>
                            <a:srgbClr val="1F2A44"/>
                          </a:solidFill>
                          <a:latin typeface="Calibri" pitchFamily="34" charset="0"/>
                          <a:ea typeface="Calibri" pitchFamily="34" charset="-122"/>
                          <a:cs typeface="Calibri" pitchFamily="34" charset="-120"/>
                        </a:rPr>
                        <a:t>Vendors@Gov</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0.6</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14884">
                <a:tc>
                  <a:txBody>
                    <a:bodyPr/>
                    <a:lstStyle/>
                    <a:p>
                      <a:pPr algn="l" indent="0" marL="0">
                        <a:buNone/>
                      </a:pPr>
                      <a:r>
                        <a:rPr lang="en-US" sz="900" dirty="0">
                          <a:solidFill>
                            <a:srgbClr val="1F2A44"/>
                          </a:solidFill>
                          <a:latin typeface="Calibri" pitchFamily="34" charset="0"/>
                          <a:ea typeface="Calibri" pitchFamily="34" charset="-122"/>
                          <a:cs typeface="Calibri" pitchFamily="34" charset="-120"/>
                        </a:rPr>
                        <a:t>Other</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12.9%</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0.2</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A44"/>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14884">
                <a:tc>
                  <a:txBody>
                    <a:bodyPr/>
                    <a:lstStyle/>
                    <a:p>
                      <a:pPr algn="l" indent="0" marL="0">
                        <a:buNone/>
                      </a:pPr>
                      <a:r>
                        <a:rPr lang="en-US" sz="900" b="1" dirty="0">
                          <a:solidFill>
                            <a:srgbClr val="1F2A44"/>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900" b="1" dirty="0">
                          <a:solidFill>
                            <a:srgbClr val="1F2A44"/>
                          </a:solidFill>
                          <a:latin typeface="Calibri" pitchFamily="34" charset="0"/>
                          <a:ea typeface="Calibri" pitchFamily="34" charset="-122"/>
                          <a:cs typeface="Calibri" pitchFamily="34" charset="-120"/>
                        </a:rPr>
                        <a:t>85</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900" b="1" dirty="0">
                          <a:solidFill>
                            <a:srgbClr val="1F2A44"/>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900" b="1" dirty="0">
                          <a:solidFill>
                            <a:srgbClr val="1F2A44"/>
                          </a:solidFill>
                          <a:latin typeface="Calibri" pitchFamily="34" charset="0"/>
                          <a:ea typeface="Calibri" pitchFamily="34" charset="-122"/>
                          <a:cs typeface="Calibri" pitchFamily="34" charset="-120"/>
                        </a:rPr>
                        <a:t>0.7</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c>
                  <a:txBody>
                    <a:bodyPr/>
                    <a:lstStyle/>
                    <a:p>
                      <a:pPr algn="ctr" indent="0" marL="0">
                        <a:buNone/>
                      </a:pPr>
                      <a:r>
                        <a:rPr lang="en-US" sz="900" b="1" dirty="0">
                          <a:solidFill>
                            <a:srgbClr val="1F2A44"/>
                          </a:solidFill>
                          <a:latin typeface="Calibri" pitchFamily="34" charset="0"/>
                          <a:ea typeface="Calibri" pitchFamily="34" charset="-122"/>
                          <a:cs typeface="Calibri" pitchFamily="34" charset="-120"/>
                        </a:rPr>
                        <a:t>85%</a:t>
                      </a:r>
                      <a:endParaRPr lang="en-US" sz="900" dirty="0">
                        <a:latin typeface="Calibri" charset="0"/>
                        <a:ea typeface="Calibri" charset="0"/>
                        <a:cs typeface="Calibri" charset="0"/>
                      </a:endParaRPr>
                    </a:p>
                  </a:txBody>
                  <a:tcPr marL="38100" marR="12700" marT="12700" marB="1270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9F3E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2026-10-20T01:32:30Z</dcterms:created>
  <dcterms:modified xsi:type="dcterms:W3CDTF">2026-10-20T01:32:30Z</dcterms:modified>
</cp:coreProperties>
</file>