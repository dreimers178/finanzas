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8158"/>
                </a:solidFill>
                <a:latin typeface="Calibri"/>
              </a:defRPr>
            </a:pPr>
            <a:r>
              <a:rPr sz="1300" b="0" i="0" u="none" strike="noStrike">
                <a:solidFill>
                  <a:srgbClr val="158158"/>
                </a:solidFill>
                <a:latin typeface="Calibri"/>
              </a:rPr>
              <a:t>Resolution distribution (%)</a:t>
            </a:r>
          </a:p>
        </c:rich>
      </c:tx>
      <c:layout/>
      <c:overlay val="0"/>
    </c:title>
    <c:autoTitleDeleted val="0"/>
    <c:plotArea>
      <c:layout/>
      <c:doughnutChart>
        <c:varyColors val="1"/>
        <c:ser>
          <c:idx val="0"/>
          <c:order val="0"/>
          <c:tx>
            <c:strRef>
              <c:f>Sheet1!$B$1</c:f>
              <c:strCache>
                <c:ptCount val="1"/>
                <c:pt idx="0">
                  <c:v>Distribution</c:v>
                </c:pt>
              </c:strCache>
            </c:strRef>
          </c:tx>
          <c:spPr>
            <a:solidFill>
              <a:schemeClr val="accent1"/>
            </a:solidFill>
            <a:ln w="9525" cap="flat">
              <a:solidFill>
                <a:srgbClr val="F9F9F9"/>
              </a:solidFill>
              <a:prstDash val="solid"/>
              <a:round/>
            </a:ln>
            <a:effectLst/>
          </c:spPr>
          <c:dPt>
            <c:idx val="0"/>
            <c:bubble3D val="0"/>
            <c:spPr>
              <a:solidFill>
                <a:srgbClr val="50B432"/>
              </a:solidFill>
              <a:effectLst/>
            </c:spPr>
          </c:dPt>
          <c:dPt>
            <c:idx val="1"/>
            <c:bubble3D val="0"/>
            <c:spPr>
              <a:solidFill>
                <a:srgbClr val="53B5E0"/>
              </a:solidFill>
              <a:effectLst/>
            </c:spPr>
          </c:dPt>
          <c:dPt>
            <c:idx val="2"/>
            <c:bubble3D val="0"/>
            <c:spPr>
              <a:solidFill>
                <a:srgbClr val="4292E1"/>
              </a:solidFill>
              <a:effectLst/>
            </c:spPr>
          </c:dPt>
          <c:dPt>
            <c:idx val="3"/>
            <c:bubble3D val="0"/>
            <c:spPr>
              <a:solidFill>
                <a:srgbClr val="ED8B1B"/>
              </a:solidFill>
              <a:effectLst/>
            </c:spPr>
          </c:dPt>
          <c:dPt>
            <c:idx val="4"/>
            <c:bubble3D val="0"/>
            <c:spPr>
              <a:solidFill>
                <a:srgbClr val="4A2ADB"/>
              </a:solidFill>
              <a:effectLst/>
            </c:spPr>
          </c:dPt>
          <c:dLbls>
            <c:dLbl>
              <c:idx val="0"/>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2"/>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3"/>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4"/>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Same day</c:v>
                </c:pt>
                <c:pt idx="1">
                  <c:v>1-2 d</c:v>
                </c:pt>
                <c:pt idx="2">
                  <c:v>2-4 d</c:v>
                </c:pt>
                <c:pt idx="3">
                  <c:v>4-7 d</c:v>
                </c:pt>
                <c:pt idx="4">
                  <c:v>&gt;7 d</c:v>
                </c:pt>
              </c:strCache>
            </c:strRef>
          </c:cat>
          <c:val>
            <c:numRef>
              <c:f>Sheet1!$B$2:$B$6</c:f>
              <c:numCache>
                <c:ptCount val="5"/>
                <c:pt idx="0">
                  <c:v>62</c:v>
                </c:pt>
                <c:pt idx="1">
                  <c:v>10</c:v>
                </c:pt>
                <c:pt idx="2">
                  <c:v>0</c:v>
                </c:pt>
                <c:pt idx="3">
                  <c:v>0</c:v>
                </c:pt>
                <c:pt idx="4">
                  <c:v>1</c:v>
                </c:pt>
              </c:numCache>
            </c:numRef>
          </c:val>
        </c:ser>
        <c:firstSliceAng val="0"/>
        <c:holeSize val="58"/>
      </c:doughnutChart>
      <c:spPr>
        <a:noFill/>
        <a:ln>
          <a:noFill/>
        </a:ln>
        <a:effectLst/>
      </c:spPr>
    </c:plotArea>
    <c:legend>
      <c:legendPos val="r"/>
      <c:overlay val="0"/>
      <c:txPr>
        <a:bodyPr/>
        <a:lstStyle/>
        <a:p>
          <a:pPr>
            <a:defRPr sz="10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8158"/>
                </a:solidFill>
                <a:latin typeface="Calibri"/>
              </a:defRPr>
            </a:pPr>
            <a:r>
              <a:rPr sz="1300" b="0" i="0" u="none" strike="noStrike">
                <a:solidFill>
                  <a:srgbClr val="158158"/>
                </a:solidFill>
                <a:latin typeface="Calibri"/>
              </a:rPr>
              <a:t>Resolution distribution (%)</a:t>
            </a:r>
          </a:p>
        </c:rich>
      </c:tx>
      <c:layout/>
      <c:overlay val="0"/>
    </c:title>
    <c:autoTitleDeleted val="0"/>
    <c:plotArea>
      <c:layout/>
      <c:doughnutChart>
        <c:varyColors val="1"/>
        <c:ser>
          <c:idx val="0"/>
          <c:order val="0"/>
          <c:tx>
            <c:strRef>
              <c:f>Sheet1!$B$1</c:f>
              <c:strCache>
                <c:ptCount val="1"/>
                <c:pt idx="0">
                  <c:v>Distribution</c:v>
                </c:pt>
              </c:strCache>
            </c:strRef>
          </c:tx>
          <c:spPr>
            <a:solidFill>
              <a:schemeClr val="accent1"/>
            </a:solidFill>
            <a:ln w="9525" cap="flat">
              <a:solidFill>
                <a:srgbClr val="F9F9F9"/>
              </a:solidFill>
              <a:prstDash val="solid"/>
              <a:round/>
            </a:ln>
            <a:effectLst/>
          </c:spPr>
          <c:dPt>
            <c:idx val="0"/>
            <c:bubble3D val="0"/>
            <c:spPr>
              <a:solidFill>
                <a:srgbClr val="50B432"/>
              </a:solidFill>
              <a:effectLst/>
            </c:spPr>
          </c:dPt>
          <c:dPt>
            <c:idx val="1"/>
            <c:bubble3D val="0"/>
            <c:spPr>
              <a:solidFill>
                <a:srgbClr val="53B5E0"/>
              </a:solidFill>
              <a:effectLst/>
            </c:spPr>
          </c:dPt>
          <c:dPt>
            <c:idx val="2"/>
            <c:bubble3D val="0"/>
            <c:spPr>
              <a:solidFill>
                <a:srgbClr val="4292E1"/>
              </a:solidFill>
              <a:effectLst/>
            </c:spPr>
          </c:dPt>
          <c:dPt>
            <c:idx val="3"/>
            <c:bubble3D val="0"/>
            <c:spPr>
              <a:solidFill>
                <a:srgbClr val="ED8B1B"/>
              </a:solidFill>
              <a:effectLst/>
            </c:spPr>
          </c:dPt>
          <c:dPt>
            <c:idx val="4"/>
            <c:bubble3D val="0"/>
            <c:spPr>
              <a:solidFill>
                <a:srgbClr val="4A2ADB"/>
              </a:solidFill>
              <a:effectLst/>
            </c:spPr>
          </c:dPt>
          <c:dLbls>
            <c:dLbl>
              <c:idx val="0"/>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2"/>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3"/>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4"/>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Same day</c:v>
                </c:pt>
                <c:pt idx="1">
                  <c:v>1-2 d</c:v>
                </c:pt>
                <c:pt idx="2">
                  <c:v>2-4 d</c:v>
                </c:pt>
                <c:pt idx="3">
                  <c:v>4-7 d</c:v>
                </c:pt>
                <c:pt idx="4">
                  <c:v>&gt;7 d</c:v>
                </c:pt>
              </c:strCache>
            </c:strRef>
          </c:cat>
          <c:val>
            <c:numRef>
              <c:f>Sheet1!$B$2:$B$6</c:f>
              <c:numCache>
                <c:ptCount val="5"/>
                <c:pt idx="0">
                  <c:v>136</c:v>
                </c:pt>
                <c:pt idx="1">
                  <c:v>26</c:v>
                </c:pt>
                <c:pt idx="2">
                  <c:v>37</c:v>
                </c:pt>
                <c:pt idx="3">
                  <c:v>2</c:v>
                </c:pt>
                <c:pt idx="4">
                  <c:v>3</c:v>
                </c:pt>
              </c:numCache>
            </c:numRef>
          </c:val>
        </c:ser>
        <c:firstSliceAng val="0"/>
        <c:holeSize val="58"/>
      </c:doughnutChart>
      <c:spPr>
        <a:noFill/>
        <a:ln>
          <a:noFill/>
        </a:ln>
        <a:effectLst/>
      </c:spPr>
    </c:plotArea>
    <c:legend>
      <c:legendPos val="r"/>
      <c:overlay val="0"/>
      <c:txPr>
        <a:bodyPr/>
        <a:lstStyle/>
        <a:p>
          <a:pPr>
            <a:defRPr sz="10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Uploads — the whole team's work: submitting our clients' invoices across every customer portal. Scope: tasks created through September 30, with a 2-day SLA window to resolve (completed through October 2).
In September we handled 85 upload requests and resolved 73, at 0.7 days on average and 85% resolved same-day.
The trend keeps improving: 2.9 days in July, 1.7 in August, 0.7 in September.
The donut shows how fast we close them — the large majority are same-day.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Tesorio Tasks — how we track that same portal work end to end. Scope: created through September 30, with a 2-day SLA window to resolve (completed through October 2).
In September we completed 204 tasks at 1.1 days on average, 67% same-day, with 38 still open past the SLA window. The 2-day window captures the many tasks created on Sep 30 that closed on Oct 1-2.
The bar chart shows which platforms we use most: Coupa and Ariba carry the bulk of our volume, then Taulia.
Opportunity: the slowest cases are URL-based ones with no standing access — getting access set up up front closes that gap. Speed and accuracy here get us paid faster and bring down DSO, while making it easier for the client to process and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66928"/>
          </a:xfrm>
          <a:prstGeom prst="rect">
            <a:avLst/>
          </a:prstGeom>
        </p:spPr>
      </p:pic>
      <p:sp>
        <p:nvSpPr>
          <p:cNvPr id="3" name="Text 0"/>
          <p:cNvSpPr txBox="1"/>
          <p:nvPr/>
        </p:nvSpPr>
        <p:spPr>
          <a:xfrm>
            <a:off x="7040880" y="118872"/>
            <a:ext cx="1920240" cy="329184"/>
          </a:xfrm>
          <a:prstGeom prst="rect">
            <a:avLst/>
          </a:prstGeom>
          <a:noFill/>
          <a:ln/>
        </p:spPr>
        <p:txBody>
          <a:bodyPr wrap="square" lIns="0" tIns="0" rIns="0" bIns="0" rtlCol="0" anchor="ctr"/>
          <a:lstStyle/>
          <a:p>
            <a:pPr algn="r" indent="0" marL="0">
              <a:buNone/>
            </a:pPr>
            <a:r>
              <a:rPr lang="en-US" sz="1700" b="1" dirty="0">
                <a:solidFill>
                  <a:srgbClr val="FFFFFF"/>
                </a:solidFill>
                <a:latin typeface="Calibri" pitchFamily="34" charset="0"/>
                <a:ea typeface="Calibri" pitchFamily="34" charset="-122"/>
                <a:cs typeface="Calibri" pitchFamily="34" charset="-120"/>
              </a:rPr>
              <a:t>qualtrics</a:t>
            </a:r>
            <a:pPr algn="r" indent="0" marL="0">
              <a:buNone/>
            </a:pPr>
            <a:r>
              <a:rPr lang="en-US" sz="900" b="1" baseline="30000" dirty="0">
                <a:solidFill>
                  <a:srgbClr val="FFFFFF"/>
                </a:solidFill>
                <a:latin typeface="Calibri" pitchFamily="34" charset="0"/>
                <a:ea typeface="Calibri" pitchFamily="34" charset="-122"/>
                <a:cs typeface="Calibri" pitchFamily="34" charset="-120"/>
              </a:rPr>
              <a:t>XM</a:t>
            </a:r>
            <a:endParaRPr lang="en-US" sz="1700" dirty="0"/>
          </a:p>
        </p:txBody>
      </p:sp>
      <p:sp>
        <p:nvSpPr>
          <p:cNvPr id="4" name="Text 1"/>
          <p:cNvSpPr txBox="1"/>
          <p:nvPr/>
        </p:nvSpPr>
        <p:spPr>
          <a:xfrm>
            <a:off x="457200" y="713232"/>
            <a:ext cx="8229600" cy="457200"/>
          </a:xfrm>
          <a:prstGeom prst="rect">
            <a:avLst/>
          </a:prstGeom>
          <a:noFill/>
          <a:ln/>
        </p:spPr>
        <p:txBody>
          <a:bodyPr wrap="square" lIns="0" tIns="0" rIns="0" bIns="0" rtlCol="0" anchor="ctr"/>
          <a:lstStyle/>
          <a:p>
            <a:pPr indent="0" marL="0">
              <a:buNone/>
            </a:pPr>
            <a:r>
              <a:rPr lang="en-US" sz="2400" b="1" dirty="0">
                <a:solidFill>
                  <a:srgbClr val="158158"/>
                </a:solidFill>
                <a:latin typeface="Calibri" pitchFamily="34" charset="0"/>
                <a:ea typeface="Calibri" pitchFamily="34" charset="-122"/>
                <a:cs typeface="Calibri" pitchFamily="34" charset="-120"/>
              </a:rPr>
              <a:t>Portal Uploads  ·  Sep - 26</a:t>
            </a:r>
            <a:endParaRPr lang="en-US" sz="2400" dirty="0"/>
          </a:p>
        </p:txBody>
      </p:sp>
      <p:sp>
        <p:nvSpPr>
          <p:cNvPr id="5" name="Shape 2"/>
          <p:cNvSpPr/>
          <p:nvPr/>
        </p:nvSpPr>
        <p:spPr>
          <a:xfrm>
            <a:off x="457200" y="1325880"/>
            <a:ext cx="1965960" cy="960120"/>
          </a:xfrm>
          <a:prstGeom prst="roundRect">
            <a:avLst>
              <a:gd name="adj" fmla="val 6667"/>
            </a:avLst>
          </a:prstGeom>
          <a:solidFill>
            <a:srgbClr val="F3F5F7"/>
          </a:solidFill>
          <a:ln/>
        </p:spPr>
      </p:sp>
      <p:sp>
        <p:nvSpPr>
          <p:cNvPr id="6" name="Text 3"/>
          <p:cNvSpPr txBox="1"/>
          <p:nvPr/>
        </p:nvSpPr>
        <p:spPr>
          <a:xfrm>
            <a:off x="457200" y="1417320"/>
            <a:ext cx="1965960" cy="502920"/>
          </a:xfrm>
          <a:prstGeom prst="rect">
            <a:avLst/>
          </a:prstGeom>
          <a:noFill/>
          <a:ln/>
        </p:spPr>
        <p:txBody>
          <a:bodyPr wrap="square" lIns="0" tIns="0" rIns="0" bIns="0" rtlCol="0" anchor="ctr"/>
          <a:lstStyle/>
          <a:p>
            <a:pPr algn="ctr" indent="0" marL="0">
              <a:buNone/>
            </a:pPr>
            <a:r>
              <a:rPr lang="en-US" sz="2800" b="1" dirty="0">
                <a:solidFill>
                  <a:srgbClr val="4292E1"/>
                </a:solidFill>
                <a:latin typeface="Calibri" pitchFamily="34" charset="0"/>
                <a:ea typeface="Calibri" pitchFamily="34" charset="-122"/>
                <a:cs typeface="Calibri" pitchFamily="34" charset="-120"/>
              </a:rPr>
              <a:t>85</a:t>
            </a:r>
            <a:endParaRPr lang="en-US" sz="2800" dirty="0"/>
          </a:p>
        </p:txBody>
      </p:sp>
      <p:sp>
        <p:nvSpPr>
          <p:cNvPr id="7" name="Text 4"/>
          <p:cNvSpPr txBox="1"/>
          <p:nvPr/>
        </p:nvSpPr>
        <p:spPr>
          <a:xfrm>
            <a:off x="457200"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Uploads</a:t>
            </a:r>
            <a:endParaRPr lang="en-US" sz="1100" dirty="0"/>
          </a:p>
        </p:txBody>
      </p:sp>
      <p:sp>
        <p:nvSpPr>
          <p:cNvPr id="8" name="Shape 5"/>
          <p:cNvSpPr/>
          <p:nvPr/>
        </p:nvSpPr>
        <p:spPr>
          <a:xfrm>
            <a:off x="2542032" y="1325880"/>
            <a:ext cx="1965960" cy="960120"/>
          </a:xfrm>
          <a:prstGeom prst="roundRect">
            <a:avLst>
              <a:gd name="adj" fmla="val 6667"/>
            </a:avLst>
          </a:prstGeom>
          <a:solidFill>
            <a:srgbClr val="F3F5F7"/>
          </a:solidFill>
          <a:ln/>
        </p:spPr>
      </p:sp>
      <p:sp>
        <p:nvSpPr>
          <p:cNvPr id="9" name="Text 6"/>
          <p:cNvSpPr txBox="1"/>
          <p:nvPr/>
        </p:nvSpPr>
        <p:spPr>
          <a:xfrm>
            <a:off x="2542032" y="1417320"/>
            <a:ext cx="1965960" cy="502920"/>
          </a:xfrm>
          <a:prstGeom prst="rect">
            <a:avLst/>
          </a:prstGeom>
          <a:noFill/>
          <a:ln/>
        </p:spPr>
        <p:txBody>
          <a:bodyPr wrap="square" lIns="0" tIns="0" rIns="0" bIns="0" rtlCol="0" anchor="ctr"/>
          <a:lstStyle/>
          <a:p>
            <a:pPr algn="ctr" indent="0" marL="0">
              <a:buNone/>
            </a:pPr>
            <a:r>
              <a:rPr lang="en-US" sz="2800" b="1" dirty="0">
                <a:solidFill>
                  <a:srgbClr val="34B78F"/>
                </a:solidFill>
                <a:latin typeface="Calibri" pitchFamily="34" charset="0"/>
                <a:ea typeface="Calibri" pitchFamily="34" charset="-122"/>
                <a:cs typeface="Calibri" pitchFamily="34" charset="-120"/>
              </a:rPr>
              <a:t>73</a:t>
            </a:r>
            <a:endParaRPr lang="en-US" sz="2800" dirty="0"/>
          </a:p>
        </p:txBody>
      </p:sp>
      <p:sp>
        <p:nvSpPr>
          <p:cNvPr id="10" name="Text 7"/>
          <p:cNvSpPr txBox="1"/>
          <p:nvPr/>
        </p:nvSpPr>
        <p:spPr>
          <a:xfrm>
            <a:off x="2542032"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Resolved</a:t>
            </a:r>
            <a:endParaRPr lang="en-US" sz="1100" dirty="0"/>
          </a:p>
        </p:txBody>
      </p:sp>
      <p:sp>
        <p:nvSpPr>
          <p:cNvPr id="11" name="Shape 8"/>
          <p:cNvSpPr/>
          <p:nvPr/>
        </p:nvSpPr>
        <p:spPr>
          <a:xfrm>
            <a:off x="4626864" y="1325880"/>
            <a:ext cx="1965960" cy="960120"/>
          </a:xfrm>
          <a:prstGeom prst="roundRect">
            <a:avLst>
              <a:gd name="adj" fmla="val 6667"/>
            </a:avLst>
          </a:prstGeom>
          <a:solidFill>
            <a:srgbClr val="F3F5F7"/>
          </a:solidFill>
          <a:ln/>
        </p:spPr>
      </p:sp>
      <p:sp>
        <p:nvSpPr>
          <p:cNvPr id="12" name="Text 9"/>
          <p:cNvSpPr txBox="1"/>
          <p:nvPr/>
        </p:nvSpPr>
        <p:spPr>
          <a:xfrm>
            <a:off x="4626864" y="1417320"/>
            <a:ext cx="1965960" cy="502920"/>
          </a:xfrm>
          <a:prstGeom prst="rect">
            <a:avLst/>
          </a:prstGeom>
          <a:noFill/>
          <a:ln/>
        </p:spPr>
        <p:txBody>
          <a:bodyPr wrap="square" lIns="0" tIns="0" rIns="0" bIns="0" rtlCol="0" anchor="ctr"/>
          <a:lstStyle/>
          <a:p>
            <a:pPr algn="ctr" indent="0" marL="0">
              <a:buNone/>
            </a:pPr>
            <a:r>
              <a:rPr lang="en-US" sz="2800" b="1" dirty="0">
                <a:solidFill>
                  <a:srgbClr val="ED8B1B"/>
                </a:solidFill>
                <a:latin typeface="Calibri" pitchFamily="34" charset="0"/>
                <a:ea typeface="Calibri" pitchFamily="34" charset="-122"/>
                <a:cs typeface="Calibri" pitchFamily="34" charset="-120"/>
              </a:rPr>
              <a:t>0.7 d</a:t>
            </a:r>
            <a:endParaRPr lang="en-US" sz="2800" dirty="0"/>
          </a:p>
        </p:txBody>
      </p:sp>
      <p:sp>
        <p:nvSpPr>
          <p:cNvPr id="13" name="Text 10"/>
          <p:cNvSpPr txBox="1"/>
          <p:nvPr/>
        </p:nvSpPr>
        <p:spPr>
          <a:xfrm>
            <a:off x="4626864"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Avg. resolution</a:t>
            </a:r>
            <a:endParaRPr lang="en-US" sz="1100" dirty="0"/>
          </a:p>
        </p:txBody>
      </p:sp>
      <p:sp>
        <p:nvSpPr>
          <p:cNvPr id="14" name="Shape 11"/>
          <p:cNvSpPr/>
          <p:nvPr/>
        </p:nvSpPr>
        <p:spPr>
          <a:xfrm>
            <a:off x="6711696" y="1325880"/>
            <a:ext cx="1965960" cy="960120"/>
          </a:xfrm>
          <a:prstGeom prst="roundRect">
            <a:avLst>
              <a:gd name="adj" fmla="val 6667"/>
            </a:avLst>
          </a:prstGeom>
          <a:solidFill>
            <a:srgbClr val="F3F5F7"/>
          </a:solidFill>
          <a:ln/>
        </p:spPr>
      </p:sp>
      <p:sp>
        <p:nvSpPr>
          <p:cNvPr id="15" name="Text 12"/>
          <p:cNvSpPr txBox="1"/>
          <p:nvPr/>
        </p:nvSpPr>
        <p:spPr>
          <a:xfrm>
            <a:off x="6711696" y="1417320"/>
            <a:ext cx="1965960" cy="502920"/>
          </a:xfrm>
          <a:prstGeom prst="rect">
            <a:avLst/>
          </a:prstGeom>
          <a:noFill/>
          <a:ln/>
        </p:spPr>
        <p:txBody>
          <a:bodyPr wrap="square" lIns="0" tIns="0" rIns="0" bIns="0" rtlCol="0" anchor="ctr"/>
          <a:lstStyle/>
          <a:p>
            <a:pPr algn="ctr" indent="0" marL="0">
              <a:buNone/>
            </a:pPr>
            <a:r>
              <a:rPr lang="en-US" sz="2800" b="1" dirty="0">
                <a:solidFill>
                  <a:srgbClr val="50B432"/>
                </a:solidFill>
                <a:latin typeface="Calibri" pitchFamily="34" charset="0"/>
                <a:ea typeface="Calibri" pitchFamily="34" charset="-122"/>
                <a:cs typeface="Calibri" pitchFamily="34" charset="-120"/>
              </a:rPr>
              <a:t>85%</a:t>
            </a:r>
            <a:endParaRPr lang="en-US" sz="2800" dirty="0"/>
          </a:p>
        </p:txBody>
      </p:sp>
      <p:sp>
        <p:nvSpPr>
          <p:cNvPr id="16" name="Text 13"/>
          <p:cNvSpPr txBox="1"/>
          <p:nvPr/>
        </p:nvSpPr>
        <p:spPr>
          <a:xfrm>
            <a:off x="6711696"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Same-day</a:t>
            </a:r>
            <a:endParaRPr lang="en-US" sz="1100" dirty="0"/>
          </a:p>
        </p:txBody>
      </p:sp>
      <p:sp>
        <p:nvSpPr>
          <p:cNvPr id="17" name="Text 14"/>
          <p:cNvSpPr txBox="1"/>
          <p:nvPr/>
        </p:nvSpPr>
        <p:spPr>
          <a:xfrm>
            <a:off x="457200" y="2514600"/>
            <a:ext cx="4572000" cy="292608"/>
          </a:xfrm>
          <a:prstGeom prst="rect">
            <a:avLst/>
          </a:prstGeom>
          <a:noFill/>
          <a:ln/>
        </p:spPr>
        <p:txBody>
          <a:bodyPr wrap="square" lIns="0" tIns="0" rIns="0" bIns="0" rtlCol="0" anchor="ctr"/>
          <a:lstStyle/>
          <a:p>
            <a:pPr indent="0" marL="0">
              <a:buNone/>
            </a:pPr>
            <a:r>
              <a:rPr lang="en-US" sz="1300" b="1" dirty="0">
                <a:solidFill>
                  <a:srgbClr val="158158"/>
                </a:solidFill>
                <a:latin typeface="Calibri" pitchFamily="34" charset="0"/>
                <a:ea typeface="Calibri" pitchFamily="34" charset="-122"/>
                <a:cs typeface="Calibri" pitchFamily="34" charset="-120"/>
              </a:rPr>
              <a:t>Resolution time by month</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852928"/>
          <a:ext cx="4572000" cy="914400"/>
        </p:xfrm>
        <a:graphic>
          <a:graphicData uri="http://schemas.openxmlformats.org/drawingml/2006/table">
            <a:tbl>
              <a:tblPr/>
              <a:tblGrid>
                <a:gridCol w="1051560"/>
                <a:gridCol w="914400"/>
                <a:gridCol w="914400"/>
                <a:gridCol w="822960"/>
                <a:gridCol w="868680"/>
              </a:tblGrid>
              <a:tr h="34747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Uploads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Resolved</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Avg. days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same day</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Jul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Aug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81%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b="1" dirty="0">
                          <a:solidFill>
                            <a:srgbClr val="1F2A44"/>
                          </a:solidFill>
                          <a:latin typeface="Calibri" pitchFamily="34" charset="0"/>
                          <a:ea typeface="Calibri" pitchFamily="34" charset="-122"/>
                          <a:cs typeface="Calibri" pitchFamily="34" charset="-120"/>
                        </a:rPr>
                        <a:t>Sep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73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0.7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r>
            </a:tbl>
          </a:graphicData>
        </a:graphic>
      </p:graphicFrame>
      <p:graphicFrame>
        <p:nvGraphicFramePr>
          <p:cNvPr id="19" name="Chart 0" descr=""/>
          <p:cNvGraphicFramePr/>
          <p:nvPr/>
        </p:nvGraphicFramePr>
        <p:xfrm>
          <a:off x="5394960" y="2468880"/>
          <a:ext cx="3474720" cy="23317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66928"/>
          </a:xfrm>
          <a:prstGeom prst="rect">
            <a:avLst/>
          </a:prstGeom>
        </p:spPr>
      </p:pic>
      <p:sp>
        <p:nvSpPr>
          <p:cNvPr id="3" name="Text 0"/>
          <p:cNvSpPr txBox="1"/>
          <p:nvPr/>
        </p:nvSpPr>
        <p:spPr>
          <a:xfrm>
            <a:off x="7040880" y="118872"/>
            <a:ext cx="1920240" cy="329184"/>
          </a:xfrm>
          <a:prstGeom prst="rect">
            <a:avLst/>
          </a:prstGeom>
          <a:noFill/>
          <a:ln/>
        </p:spPr>
        <p:txBody>
          <a:bodyPr wrap="square" lIns="0" tIns="0" rIns="0" bIns="0" rtlCol="0" anchor="ctr"/>
          <a:lstStyle/>
          <a:p>
            <a:pPr algn="r" indent="0" marL="0">
              <a:buNone/>
            </a:pPr>
            <a:r>
              <a:rPr lang="en-US" sz="1700" b="1" dirty="0">
                <a:solidFill>
                  <a:srgbClr val="FFFFFF"/>
                </a:solidFill>
                <a:latin typeface="Calibri" pitchFamily="34" charset="0"/>
                <a:ea typeface="Calibri" pitchFamily="34" charset="-122"/>
                <a:cs typeface="Calibri" pitchFamily="34" charset="-120"/>
              </a:rPr>
              <a:t>qualtrics</a:t>
            </a:r>
            <a:pPr algn="r" indent="0" marL="0">
              <a:buNone/>
            </a:pPr>
            <a:r>
              <a:rPr lang="en-US" sz="900" b="1" baseline="30000" dirty="0">
                <a:solidFill>
                  <a:srgbClr val="FFFFFF"/>
                </a:solidFill>
                <a:latin typeface="Calibri" pitchFamily="34" charset="0"/>
                <a:ea typeface="Calibri" pitchFamily="34" charset="-122"/>
                <a:cs typeface="Calibri" pitchFamily="34" charset="-120"/>
              </a:rPr>
              <a:t>XM</a:t>
            </a:r>
            <a:endParaRPr lang="en-US" sz="1700" dirty="0"/>
          </a:p>
        </p:txBody>
      </p:sp>
      <p:sp>
        <p:nvSpPr>
          <p:cNvPr id="4" name="Text 1"/>
          <p:cNvSpPr txBox="1"/>
          <p:nvPr/>
        </p:nvSpPr>
        <p:spPr>
          <a:xfrm>
            <a:off x="457200" y="713232"/>
            <a:ext cx="8229600" cy="457200"/>
          </a:xfrm>
          <a:prstGeom prst="rect">
            <a:avLst/>
          </a:prstGeom>
          <a:noFill/>
          <a:ln/>
        </p:spPr>
        <p:txBody>
          <a:bodyPr wrap="square" lIns="0" tIns="0" rIns="0" bIns="0" rtlCol="0" anchor="ctr"/>
          <a:lstStyle/>
          <a:p>
            <a:pPr indent="0" marL="0">
              <a:buNone/>
            </a:pPr>
            <a:r>
              <a:rPr lang="en-US" sz="2400" b="1" dirty="0">
                <a:solidFill>
                  <a:srgbClr val="158158"/>
                </a:solidFill>
                <a:latin typeface="Calibri" pitchFamily="34" charset="0"/>
                <a:ea typeface="Calibri" pitchFamily="34" charset="-122"/>
                <a:cs typeface="Calibri" pitchFamily="34" charset="-120"/>
              </a:rPr>
              <a:t>Tesorio Tasks  ·  Sep - 26</a:t>
            </a:r>
            <a:endParaRPr lang="en-US" sz="2400" dirty="0"/>
          </a:p>
        </p:txBody>
      </p:sp>
      <p:sp>
        <p:nvSpPr>
          <p:cNvPr id="5" name="Shape 2"/>
          <p:cNvSpPr/>
          <p:nvPr/>
        </p:nvSpPr>
        <p:spPr>
          <a:xfrm>
            <a:off x="457200" y="1325880"/>
            <a:ext cx="1965960" cy="960120"/>
          </a:xfrm>
          <a:prstGeom prst="roundRect">
            <a:avLst>
              <a:gd name="adj" fmla="val 6667"/>
            </a:avLst>
          </a:prstGeom>
          <a:solidFill>
            <a:srgbClr val="F3F5F7"/>
          </a:solidFill>
          <a:ln/>
        </p:spPr>
      </p:sp>
      <p:sp>
        <p:nvSpPr>
          <p:cNvPr id="6" name="Text 3"/>
          <p:cNvSpPr txBox="1"/>
          <p:nvPr/>
        </p:nvSpPr>
        <p:spPr>
          <a:xfrm>
            <a:off x="457200" y="1417320"/>
            <a:ext cx="1965960" cy="502920"/>
          </a:xfrm>
          <a:prstGeom prst="rect">
            <a:avLst/>
          </a:prstGeom>
          <a:noFill/>
          <a:ln/>
        </p:spPr>
        <p:txBody>
          <a:bodyPr wrap="square" lIns="0" tIns="0" rIns="0" bIns="0" rtlCol="0" anchor="ctr"/>
          <a:lstStyle/>
          <a:p>
            <a:pPr algn="ctr" indent="0" marL="0">
              <a:buNone/>
            </a:pPr>
            <a:r>
              <a:rPr lang="en-US" sz="2800" b="1" dirty="0">
                <a:solidFill>
                  <a:srgbClr val="4292E1"/>
                </a:solidFill>
                <a:latin typeface="Calibri" pitchFamily="34" charset="0"/>
                <a:ea typeface="Calibri" pitchFamily="34" charset="-122"/>
                <a:cs typeface="Calibri" pitchFamily="34" charset="-120"/>
              </a:rPr>
              <a:t>204</a:t>
            </a:r>
            <a:endParaRPr lang="en-US" sz="2800" dirty="0"/>
          </a:p>
        </p:txBody>
      </p:sp>
      <p:sp>
        <p:nvSpPr>
          <p:cNvPr id="7" name="Text 4"/>
          <p:cNvSpPr txBox="1"/>
          <p:nvPr/>
        </p:nvSpPr>
        <p:spPr>
          <a:xfrm>
            <a:off x="457200"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Completed</a:t>
            </a:r>
            <a:endParaRPr lang="en-US" sz="1100" dirty="0"/>
          </a:p>
        </p:txBody>
      </p:sp>
      <p:sp>
        <p:nvSpPr>
          <p:cNvPr id="8" name="Shape 5"/>
          <p:cNvSpPr/>
          <p:nvPr/>
        </p:nvSpPr>
        <p:spPr>
          <a:xfrm>
            <a:off x="2542032" y="1325880"/>
            <a:ext cx="1965960" cy="960120"/>
          </a:xfrm>
          <a:prstGeom prst="roundRect">
            <a:avLst>
              <a:gd name="adj" fmla="val 6667"/>
            </a:avLst>
          </a:prstGeom>
          <a:solidFill>
            <a:srgbClr val="F3F5F7"/>
          </a:solidFill>
          <a:ln/>
        </p:spPr>
      </p:sp>
      <p:sp>
        <p:nvSpPr>
          <p:cNvPr id="9" name="Text 6"/>
          <p:cNvSpPr txBox="1"/>
          <p:nvPr/>
        </p:nvSpPr>
        <p:spPr>
          <a:xfrm>
            <a:off x="2542032" y="1417320"/>
            <a:ext cx="1965960" cy="502920"/>
          </a:xfrm>
          <a:prstGeom prst="rect">
            <a:avLst/>
          </a:prstGeom>
          <a:noFill/>
          <a:ln/>
        </p:spPr>
        <p:txBody>
          <a:bodyPr wrap="square" lIns="0" tIns="0" rIns="0" bIns="0" rtlCol="0" anchor="ctr"/>
          <a:lstStyle/>
          <a:p>
            <a:pPr algn="ctr" indent="0" marL="0">
              <a:buNone/>
            </a:pPr>
            <a:r>
              <a:rPr lang="en-US" sz="2800" b="1" dirty="0">
                <a:solidFill>
                  <a:srgbClr val="ED8B1B"/>
                </a:solidFill>
                <a:latin typeface="Calibri" pitchFamily="34" charset="0"/>
                <a:ea typeface="Calibri" pitchFamily="34" charset="-122"/>
                <a:cs typeface="Calibri" pitchFamily="34" charset="-120"/>
              </a:rPr>
              <a:t>1.1 d</a:t>
            </a:r>
            <a:endParaRPr lang="en-US" sz="2800" dirty="0"/>
          </a:p>
        </p:txBody>
      </p:sp>
      <p:sp>
        <p:nvSpPr>
          <p:cNvPr id="10" name="Text 7"/>
          <p:cNvSpPr txBox="1"/>
          <p:nvPr/>
        </p:nvSpPr>
        <p:spPr>
          <a:xfrm>
            <a:off x="2542032"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Avg. resolution</a:t>
            </a:r>
            <a:endParaRPr lang="en-US" sz="1100" dirty="0"/>
          </a:p>
        </p:txBody>
      </p:sp>
      <p:sp>
        <p:nvSpPr>
          <p:cNvPr id="11" name="Shape 8"/>
          <p:cNvSpPr/>
          <p:nvPr/>
        </p:nvSpPr>
        <p:spPr>
          <a:xfrm>
            <a:off x="4626864" y="1325880"/>
            <a:ext cx="1965960" cy="960120"/>
          </a:xfrm>
          <a:prstGeom prst="roundRect">
            <a:avLst>
              <a:gd name="adj" fmla="val 6667"/>
            </a:avLst>
          </a:prstGeom>
          <a:solidFill>
            <a:srgbClr val="F3F5F7"/>
          </a:solidFill>
          <a:ln/>
        </p:spPr>
      </p:sp>
      <p:sp>
        <p:nvSpPr>
          <p:cNvPr id="12" name="Text 9"/>
          <p:cNvSpPr txBox="1"/>
          <p:nvPr/>
        </p:nvSpPr>
        <p:spPr>
          <a:xfrm>
            <a:off x="4626864" y="1417320"/>
            <a:ext cx="1965960" cy="502920"/>
          </a:xfrm>
          <a:prstGeom prst="rect">
            <a:avLst/>
          </a:prstGeom>
          <a:noFill/>
          <a:ln/>
        </p:spPr>
        <p:txBody>
          <a:bodyPr wrap="square" lIns="0" tIns="0" rIns="0" bIns="0" rtlCol="0" anchor="ctr"/>
          <a:lstStyle/>
          <a:p>
            <a:pPr algn="ctr" indent="0" marL="0">
              <a:buNone/>
            </a:pPr>
            <a:r>
              <a:rPr lang="en-US" sz="2800" b="1" dirty="0">
                <a:solidFill>
                  <a:srgbClr val="50B432"/>
                </a:solidFill>
                <a:latin typeface="Calibri" pitchFamily="34" charset="0"/>
                <a:ea typeface="Calibri" pitchFamily="34" charset="-122"/>
                <a:cs typeface="Calibri" pitchFamily="34" charset="-120"/>
              </a:rPr>
              <a:t>67%</a:t>
            </a:r>
            <a:endParaRPr lang="en-US" sz="2800" dirty="0"/>
          </a:p>
        </p:txBody>
      </p:sp>
      <p:sp>
        <p:nvSpPr>
          <p:cNvPr id="13" name="Text 10"/>
          <p:cNvSpPr txBox="1"/>
          <p:nvPr/>
        </p:nvSpPr>
        <p:spPr>
          <a:xfrm>
            <a:off x="4626864"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Same-day</a:t>
            </a:r>
            <a:endParaRPr lang="en-US" sz="1100" dirty="0"/>
          </a:p>
        </p:txBody>
      </p:sp>
      <p:sp>
        <p:nvSpPr>
          <p:cNvPr id="14" name="Shape 11"/>
          <p:cNvSpPr/>
          <p:nvPr/>
        </p:nvSpPr>
        <p:spPr>
          <a:xfrm>
            <a:off x="6711696" y="1325880"/>
            <a:ext cx="1965960" cy="960120"/>
          </a:xfrm>
          <a:prstGeom prst="roundRect">
            <a:avLst>
              <a:gd name="adj" fmla="val 6667"/>
            </a:avLst>
          </a:prstGeom>
          <a:solidFill>
            <a:srgbClr val="F3F5F7"/>
          </a:solidFill>
          <a:ln/>
        </p:spPr>
      </p:sp>
      <p:sp>
        <p:nvSpPr>
          <p:cNvPr id="15" name="Text 12"/>
          <p:cNvSpPr txBox="1"/>
          <p:nvPr/>
        </p:nvSpPr>
        <p:spPr>
          <a:xfrm>
            <a:off x="6711696" y="1417320"/>
            <a:ext cx="1965960" cy="502920"/>
          </a:xfrm>
          <a:prstGeom prst="rect">
            <a:avLst/>
          </a:prstGeom>
          <a:noFill/>
          <a:ln/>
        </p:spPr>
        <p:txBody>
          <a:bodyPr wrap="square" lIns="0" tIns="0" rIns="0" bIns="0" rtlCol="0" anchor="ctr"/>
          <a:lstStyle/>
          <a:p>
            <a:pPr algn="ctr" indent="0" marL="0">
              <a:buNone/>
            </a:pPr>
            <a:r>
              <a:rPr lang="en-US" sz="2800" b="1" dirty="0">
                <a:solidFill>
                  <a:srgbClr val="34B78F"/>
                </a:solidFill>
                <a:latin typeface="Calibri" pitchFamily="34" charset="0"/>
                <a:ea typeface="Calibri" pitchFamily="34" charset="-122"/>
                <a:cs typeface="Calibri" pitchFamily="34" charset="-120"/>
              </a:rPr>
              <a:t>38</a:t>
            </a:r>
            <a:endParaRPr lang="en-US" sz="2800" dirty="0"/>
          </a:p>
        </p:txBody>
      </p:sp>
      <p:sp>
        <p:nvSpPr>
          <p:cNvPr id="16" name="Text 13"/>
          <p:cNvSpPr txBox="1"/>
          <p:nvPr/>
        </p:nvSpPr>
        <p:spPr>
          <a:xfrm>
            <a:off x="6711696"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Open (Oct 2)</a:t>
            </a:r>
            <a:endParaRPr lang="en-US" sz="1100" dirty="0"/>
          </a:p>
        </p:txBody>
      </p:sp>
      <p:sp>
        <p:nvSpPr>
          <p:cNvPr id="17" name="Text 14"/>
          <p:cNvSpPr txBox="1"/>
          <p:nvPr/>
        </p:nvSpPr>
        <p:spPr>
          <a:xfrm>
            <a:off x="457200" y="2514600"/>
            <a:ext cx="4572000" cy="292608"/>
          </a:xfrm>
          <a:prstGeom prst="rect">
            <a:avLst/>
          </a:prstGeom>
          <a:noFill/>
          <a:ln/>
        </p:spPr>
        <p:txBody>
          <a:bodyPr wrap="square" lIns="0" tIns="0" rIns="0" bIns="0" rtlCol="0" anchor="ctr"/>
          <a:lstStyle/>
          <a:p>
            <a:pPr indent="0" marL="0">
              <a:buNone/>
            </a:pPr>
            <a:r>
              <a:rPr lang="en-US" sz="1300" b="1" dirty="0">
                <a:solidFill>
                  <a:srgbClr val="158158"/>
                </a:solidFill>
                <a:latin typeface="Calibri" pitchFamily="34" charset="0"/>
                <a:ea typeface="Calibri" pitchFamily="34" charset="-122"/>
                <a:cs typeface="Calibri" pitchFamily="34" charset="-120"/>
              </a:rPr>
              <a:t>Resolution time by month</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52928"/>
          <a:ext cx="4572000" cy="914400"/>
        </p:xfrm>
        <a:graphic>
          <a:graphicData uri="http://schemas.openxmlformats.org/drawingml/2006/table">
            <a:tbl>
              <a:tblPr/>
              <a:tblGrid>
                <a:gridCol w="1051560"/>
                <a:gridCol w="914400"/>
                <a:gridCol w="960120"/>
                <a:gridCol w="822960"/>
                <a:gridCol w="822960"/>
              </a:tblGrid>
              <a:tr h="34747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Created</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Avg. days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same day</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Jul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Aug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68%</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b="1" dirty="0">
                          <a:solidFill>
                            <a:srgbClr val="1F2A44"/>
                          </a:solidFill>
                          <a:latin typeface="Calibri" pitchFamily="34" charset="0"/>
                          <a:ea typeface="Calibri" pitchFamily="34" charset="-122"/>
                          <a:cs typeface="Calibri" pitchFamily="34" charset="-120"/>
                        </a:rPr>
                        <a:t>Sep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240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r>
            </a:tbl>
          </a:graphicData>
        </a:graphic>
      </p:graphicFrame>
      <p:graphicFrame>
        <p:nvGraphicFramePr>
          <p:cNvPr id="19" name="Chart 0" descr=""/>
          <p:cNvGraphicFramePr/>
          <p:nvPr/>
        </p:nvGraphicFramePr>
        <p:xfrm>
          <a:off x="5394960" y="2468880"/>
          <a:ext cx="3474720" cy="23317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2026-10-22T01:19:59Z</dcterms:created>
  <dcterms:modified xsi:type="dcterms:W3CDTF">2026-10-22T01:19:59Z</dcterms:modified>
</cp:coreProperties>
</file>