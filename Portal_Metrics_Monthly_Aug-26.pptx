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8158"/>
                </a:solidFill>
                <a:latin typeface="Calibri"/>
              </a:defRPr>
            </a:pPr>
            <a:r>
              <a:rPr sz="1300" b="0" i="0" u="none" strike="noStrike">
                <a:solidFill>
                  <a:srgbClr val="158158"/>
                </a:solidFill>
                <a:latin typeface="Calibri"/>
              </a:rPr>
              <a:t>Resolution distribution (%)</a:t>
            </a:r>
          </a:p>
        </c:rich>
      </c:tx>
      <c:layout/>
      <c:overlay val="0"/>
    </c:title>
    <c:autoTitleDeleted val="0"/>
    <c:plotArea>
      <c:layout/>
      <c:doughnutChart>
        <c:varyColors val="1"/>
        <c:ser>
          <c:idx val="0"/>
          <c:order val="0"/>
          <c:tx>
            <c:strRef>
              <c:f>Sheet1!$B$1</c:f>
              <c:strCache>
                <c:ptCount val="1"/>
                <c:pt idx="0">
                  <c:v>Distribution</c:v>
                </c:pt>
              </c:strCache>
            </c:strRef>
          </c:tx>
          <c:spPr>
            <a:solidFill>
              <a:schemeClr val="accent1"/>
            </a:solidFill>
            <a:ln w="9525" cap="flat">
              <a:solidFill>
                <a:srgbClr val="F9F9F9"/>
              </a:solidFill>
              <a:prstDash val="solid"/>
              <a:round/>
            </a:ln>
            <a:effectLst/>
          </c:spPr>
          <c:dPt>
            <c:idx val="0"/>
            <c:bubble3D val="0"/>
            <c:spPr>
              <a:solidFill>
                <a:srgbClr val="50B432"/>
              </a:solidFill>
              <a:effectLst/>
            </c:spPr>
          </c:dPt>
          <c:dPt>
            <c:idx val="1"/>
            <c:bubble3D val="0"/>
            <c:spPr>
              <a:solidFill>
                <a:srgbClr val="53B5E0"/>
              </a:solidFill>
              <a:effectLst/>
            </c:spPr>
          </c:dPt>
          <c:dPt>
            <c:idx val="2"/>
            <c:bubble3D val="0"/>
            <c:spPr>
              <a:solidFill>
                <a:srgbClr val="4292E1"/>
              </a:solidFill>
              <a:effectLst/>
            </c:spPr>
          </c:dPt>
          <c:dPt>
            <c:idx val="3"/>
            <c:bubble3D val="0"/>
            <c:spPr>
              <a:solidFill>
                <a:srgbClr val="ED8B1B"/>
              </a:solidFill>
              <a:effectLst/>
            </c:spPr>
          </c:dPt>
          <c:dPt>
            <c:idx val="4"/>
            <c:bubble3D val="0"/>
            <c:spPr>
              <a:solidFill>
                <a:srgbClr val="4A2ADB"/>
              </a:solidFill>
              <a:effectLst/>
            </c:spPr>
          </c:dPt>
          <c:dLbls>
            <c:dLbl>
              <c:idx val="0"/>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0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Same day</c:v>
                </c:pt>
                <c:pt idx="1">
                  <c:v>1-2 d</c:v>
                </c:pt>
                <c:pt idx="2">
                  <c:v>2-4 d</c:v>
                </c:pt>
                <c:pt idx="3">
                  <c:v>4-7 d</c:v>
                </c:pt>
                <c:pt idx="4">
                  <c:v>&gt;7 d</c:v>
                </c:pt>
              </c:strCache>
            </c:strRef>
          </c:cat>
          <c:val>
            <c:numRef>
              <c:f>Sheet1!$B$2:$B$6</c:f>
              <c:numCache>
                <c:ptCount val="5"/>
                <c:pt idx="0">
                  <c:v>35</c:v>
                </c:pt>
                <c:pt idx="1">
                  <c:v>2</c:v>
                </c:pt>
                <c:pt idx="2">
                  <c:v>1</c:v>
                </c:pt>
                <c:pt idx="3">
                  <c:v>1</c:v>
                </c:pt>
                <c:pt idx="4">
                  <c:v>2</c:v>
                </c:pt>
              </c:numCache>
            </c:numRef>
          </c:val>
        </c:ser>
        <c:firstSliceAng val="0"/>
        <c:holeSize val="58"/>
      </c:doughnutChart>
      <c:spPr>
        <a:noFill/>
        <a:ln>
          <a:noFill/>
        </a:ln>
        <a:effectLst/>
      </c:spPr>
    </c:plotArea>
    <c:legend>
      <c:legendPos val="r"/>
      <c:overlay val="0"/>
      <c:txPr>
        <a:bodyPr/>
        <a:lstStyle/>
        <a:p>
          <a:pPr>
            <a:defRPr sz="10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58158"/>
                </a:solidFill>
                <a:latin typeface="Calibri"/>
              </a:defRPr>
            </a:pPr>
            <a:r>
              <a:rPr sz="1200" b="0" i="0" u="none" strike="noStrike">
                <a:solidFill>
                  <a:srgbClr val="158158"/>
                </a:solidFill>
                <a:latin typeface="Calibri"/>
              </a:rPr>
              <a:t>Invoices by portal (platforms we use most)</a:t>
            </a:r>
          </a:p>
        </c:rich>
      </c:tx>
      <c:layout/>
      <c:overlay val="0"/>
    </c:title>
    <c:autoTitleDeleted val="0"/>
    <c:plotArea>
      <c:layout/>
      <c:barChart>
        <c:barDir val="bar"/>
        <c:grouping val="clustered"/>
        <c:varyColors val="0"/>
        <c:ser>
          <c:idx val="0"/>
          <c:order val="0"/>
          <c:tx>
            <c:strRef>
              <c:f>Sheet1!$B$1</c:f>
              <c:strCache>
                <c:ptCount val="1"/>
                <c:pt idx="0">
                  <c:v>Invoices</c:v>
                </c:pt>
              </c:strCache>
            </c:strRef>
          </c:tx>
          <c:spPr>
            <a:solidFill>
              <a:srgbClr val="158158"/>
            </a:solidFill>
            <a:effectLst/>
          </c:spPr>
          <c:invertIfNegative val="0"/>
          <c:dLbls>
            <c:numFmt formatCode="#,##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Coupa</c:v>
                  </c:pt>
                  <c:pt idx="1">
                    <c:v>Ariba</c:v>
                  </c:pt>
                  <c:pt idx="2">
                    <c:v>Other</c:v>
                  </c:pt>
                  <c:pt idx="3">
                    <c:v>Taulia</c:v>
                  </c:pt>
                  <c:pt idx="4">
                    <c:v>Oracle</c:v>
                  </c:pt>
                  <c:pt idx="5">
                    <c:v>URL</c:v>
                  </c:pt>
                </c:lvl>
              </c:multiLvlStrCache>
            </c:multiLvlStrRef>
          </c:cat>
          <c:val>
            <c:numRef>
              <c:f>Sheet1!$B$2:$B$7</c:f>
              <c:numCache>
                <c:formatCode>General</c:formatCode>
                <c:ptCount val="6"/>
                <c:pt idx="0">
                  <c:v>20</c:v>
                </c:pt>
                <c:pt idx="1">
                  <c:v>12</c:v>
                </c:pt>
                <c:pt idx="2">
                  <c:v>5</c:v>
                </c:pt>
                <c:pt idx="3">
                  <c:v>4</c:v>
                </c:pt>
                <c:pt idx="4">
                  <c:v>3</c:v>
                </c:pt>
                <c:pt idx="5">
                  <c:v>2</c:v>
                </c:pt>
              </c:numCache>
            </c:numRef>
          </c:val>
        </c:ser>
        <c:dLbls>
          <c:numFmt formatCode="#,##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B7B84"/>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Uploads — this is the whole team's work: submitting our clients' invoices across every customer portal.
In August we handled 46 upload requests and resolved 41 of them, at an average of under one day (0.9) and 85% resolved the same day.
The month-by-month table shows the trend: we went from ~2.8 days in June to under a day in August — a clear, steady improvement.
The donut shows how fast we close them: about 85% are done same-day, and only a small tail takes longer.
Numbers are cut off at August 31 — September is not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Tesorio Tasks is how we track that same portal work end to end. In August we completed 50 tasks at 1.1 days on average, 74% same-day, and only 4 were still open at month-end.
The bar chart shows which platforms we use most: Coupa and Ariba carry the bulk of our volume, followed by Taulia and Oracle.
Area of opportunity: the slowest cases are the ones that come in as a raw URL, not the portals we already use — about 8 days versus under 1 day for Coupa or Ariba. If we can get proper access or credentials up front for those, we close the gap.
What this means for us: every upload is an invoice we need the client to pay. Going from three days to under a day gets our invoices in front of them sooner and correct the first time — so we get paid faster, with fewer chases and escalations. Speed and accuracy here protect our own cash flow and bring down DSO, while making it easier for the client to process and pay. This month the team did that really well.
Cut off at August 31 — September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Portal Uploads  ·  Aug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46</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Uploads</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41</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Resolved</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0.9 d</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85%</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14400"/>
                <a:gridCol w="822960"/>
                <a:gridCol w="868680"/>
              </a:tblGrid>
              <a:tr h="34747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Uploads</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Resolved</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Jun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Tesorio Tasks  ·  Aug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50</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Completed</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1.1 d</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74%</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4</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Open (Aug 31)</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60120"/>
                <a:gridCol w="822960"/>
                <a:gridCol w="822960"/>
              </a:tblGrid>
              <a:tr h="34747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Created</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Jun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78</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graphicFrame>
        <p:nvGraphicFramePr>
          <p:cNvPr id="19" name="Chart 0" descr=""/>
          <p:cNvGraphicFramePr/>
          <p:nvPr/>
        </p:nvGraphicFramePr>
        <p:xfrm>
          <a:off x="5394960" y="2468880"/>
          <a:ext cx="3474720" cy="23317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2026-09-08T06:20:03Z</dcterms:created>
  <dcterms:modified xsi:type="dcterms:W3CDTF">2026-09-08T06:20:03Z</dcterms:modified>
</cp:coreProperties>
</file>