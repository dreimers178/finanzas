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815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58158"/>
                </a:solidFill>
                <a:latin typeface="Calibri"/>
              </a:rPr>
              <a:t>Resolution distribution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B432"/>
              </a:solidFill>
              <a:effectLst/>
            </c:spPr>
          </c:dPt>
          <c:dPt>
            <c:idx val="1"/>
            <c:bubble3D val="0"/>
            <c:spPr>
              <a:solidFill>
                <a:srgbClr val="53B5E0"/>
              </a:solidFill>
              <a:effectLst/>
            </c:spPr>
          </c:dPt>
          <c:dPt>
            <c:idx val="2"/>
            <c:bubble3D val="0"/>
            <c:spPr>
              <a:solidFill>
                <a:srgbClr val="4292E1"/>
              </a:solidFill>
              <a:effectLst/>
            </c:spPr>
          </c:dPt>
          <c:dPt>
            <c:idx val="3"/>
            <c:bubble3D val="0"/>
            <c:spPr>
              <a:solidFill>
                <a:srgbClr val="ED8B1B"/>
              </a:solidFill>
              <a:effectLst/>
            </c:spPr>
          </c:dPt>
          <c:dPt>
            <c:idx val="4"/>
            <c:bubble3D val="0"/>
            <c:spPr>
              <a:solidFill>
                <a:srgbClr val="4A2AD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Same day</c:v>
                </c:pt>
                <c:pt idx="1">
                  <c:v>1-2 d</c:v>
                </c:pt>
                <c:pt idx="2">
                  <c:v>2-4 d</c:v>
                </c:pt>
                <c:pt idx="3">
                  <c:v>4-7 d</c:v>
                </c:pt>
                <c:pt idx="4">
                  <c:v>&gt;7 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4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815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58158"/>
                </a:solidFill>
                <a:latin typeface="Calibri"/>
              </a:rPr>
              <a:t>Invoices by portal (platforms we use most)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Invoices</c:v>
                </c:pt>
              </c:strCache>
            </c:strRef>
          </c:tx>
          <c:spPr>
            <a:solidFill>
              <a:srgbClr val="1581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Coupa</c:v>
                  </c:pt>
                  <c:pt idx="1">
                    <c:v>Ariba</c:v>
                  </c:pt>
                  <c:pt idx="2">
                    <c:v>Other</c:v>
                  </c:pt>
                  <c:pt idx="3">
                    <c:v>Taulia</c:v>
                  </c:pt>
                  <c:pt idx="4">
                    <c:v>Oracle</c:v>
                  </c:pt>
                  <c:pt idx="5">
                    <c:v>URL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12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Portal Uploads — this is the whole team's work: submitting our clients' invoices across every customer portal.
In August we handled 46 upload requests and resolved 41 of them, at an average of under one day (0.9) and 85% resolved the same day.
The month-by-month table shows the trend: we went from ~2.8 days in June to under a day in August — a clear, steady improvement.
The donut shows how fast we close them: about 85% are done same-day, and only a small tail takes longer.
Numbers are cut off at August 31 — September is not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Tesorio Tasks is how we track that same portal work end to end. In August we completed 50 tasks at 1.1 days on average, 74% same-day, and only 4 were still open at month-end.
The bar chart shows which platforms we use most: Coupa and Ariba carry the bulk of our volume, followed by Taulia and Oracle.
Area of opportunity: the slowest cases are the ones that come in as a raw URL, not the portals we already use — about 8 days versus under 1 day for Coupa or Ariba. If we can get proper access or credentials up front for those, we close the gap.
What this means for us: every upload is an invoice a client is waiting to get paid on. Going from three days to under a day means clients get paid faster, fewer escalations, less friction. Speed here protects the client's cash flow and experience — it's how Collections shows up for them, and this month the team did it really well.
Cut off at August 31 — September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040880" y="1188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</a:t>
            </a:r>
            <a:pPr algn="r" indent="0" marL="0">
              <a:buNone/>
            </a:pPr>
            <a:r>
              <a:rPr lang="en-US" sz="9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Uploads  ·  Aug - 26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29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42032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B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542032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26864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26864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d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11696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11696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0B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711696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by month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52928"/>
          <a:ext cx="4572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914400"/>
                <a:gridCol w="82296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same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- 26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- 26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- 26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0" descr=""/>
          <p:cNvGraphicFramePr/>
          <p:nvPr/>
        </p:nvGraphicFramePr>
        <p:xfrm>
          <a:off x="5394960" y="2468880"/>
          <a:ext cx="3474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040880" y="1188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</a:t>
            </a:r>
            <a:pPr algn="r" indent="0" marL="0">
              <a:buNone/>
            </a:pPr>
            <a:r>
              <a:rPr lang="en-US" sz="9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Tesorio Tasks  ·  Aug - 26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29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42032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d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542032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26864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26864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0B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11696" y="132588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11696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B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711696" y="1929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(Aug 31)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by month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52928"/>
          <a:ext cx="4572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96012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same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15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- 26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- 26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- 26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0" descr=""/>
          <p:cNvGraphicFramePr/>
          <p:nvPr/>
        </p:nvGraphicFramePr>
        <p:xfrm>
          <a:off x="5394960" y="2468880"/>
          <a:ext cx="3474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2026-09-08T05:52:51Z</dcterms:created>
  <dcterms:modified xsi:type="dcterms:W3CDTF">2026-09-08T05:52:51Z</dcterms:modified>
</cp:coreProperties>
</file>