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4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58158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58158"/>
                </a:solidFill>
                <a:latin typeface="Calibri"/>
              </a:rPr>
              <a:t>Avg. resolution days by month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Avg. days</c:v>
                </c:pt>
              </c:strCache>
            </c:strRef>
          </c:tx>
          <c:spPr>
            <a:solidFill>
              <a:srgbClr val="058DC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A2E2A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Jun - 26</c:v>
                  </c:pt>
                  <c:pt idx="1">
                    <c:v>Jul - 26</c:v>
                  </c:pt>
                  <c:pt idx="2">
                    <c:v>Aug - 26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2.8</c:v>
                </c:pt>
                <c:pt idx="1">
                  <c:v>2.9</c:v>
                </c:pt>
                <c:pt idx="2">
                  <c:v>1.3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A2E2A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B7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5E5E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B7B7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58158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58158"/>
                </a:solidFill>
                <a:latin typeface="Calibri"/>
              </a:rPr>
              <a:t>Resolution time distribution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Distribution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50B432"/>
              </a:solidFill>
              <a:effectLst/>
            </c:spPr>
          </c:dPt>
          <c:dPt>
            <c:idx val="1"/>
            <c:bubble3D val="0"/>
            <c:spPr>
              <a:solidFill>
                <a:srgbClr val="24CBE5"/>
              </a:solidFill>
              <a:effectLst/>
            </c:spPr>
          </c:dPt>
          <c:dPt>
            <c:idx val="2"/>
            <c:bubble3D val="0"/>
            <c:spPr>
              <a:solidFill>
                <a:srgbClr val="058DC7"/>
              </a:solidFill>
              <a:effectLst/>
            </c:spPr>
          </c:dPt>
          <c:dPt>
            <c:idx val="3"/>
            <c:bubble3D val="0"/>
            <c:spPr>
              <a:solidFill>
                <a:srgbClr val="ED561B"/>
              </a:solidFill>
              <a:effectLst/>
            </c:spPr>
          </c:dPt>
          <c:dPt>
            <c:idx val="4"/>
            <c:bubble3D val="0"/>
            <c:spPr>
              <a:solidFill>
                <a:srgbClr val="C0392B"/>
              </a:solidFill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numFmt formatCode="General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numFmt formatCode="General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Sheet1!$A$2:$A$6</c:f>
              <c:strCache>
                <c:ptCount val="5"/>
                <c:pt idx="0">
                  <c:v>Same day</c:v>
                </c:pt>
                <c:pt idx="1">
                  <c:v>1-2 d</c:v>
                </c:pt>
                <c:pt idx="2">
                  <c:v>2-4 d</c:v>
                </c:pt>
                <c:pt idx="3">
                  <c:v>4-7 d</c:v>
                </c:pt>
                <c:pt idx="4">
                  <c:v>&gt;7 d</c:v>
                </c:pt>
              </c:strCache>
            </c:strRef>
          </c:cat>
          <c:val>
            <c:numRef>
              <c:f>Sheet1!$B$2:$B$6</c:f>
              <c:numCache>
                <c:ptCount val="5"/>
                <c:pt idx="0">
                  <c:v>35</c:v>
                </c:pt>
                <c:pt idx="1">
                  <c:v>2</c:v>
                </c:pt>
                <c:pt idx="2">
                  <c:v>1</c:v>
                </c:pt>
                <c:pt idx="3">
                  <c:v>1</c:v>
                </c:pt>
                <c:pt idx="4">
                  <c:v>3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1A2E2A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58158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58158"/>
                </a:solidFill>
                <a:latin typeface="Calibri"/>
              </a:rPr>
              <a:t>Uploads by portal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Uploads</c:v>
                </c:pt>
              </c:strCache>
            </c:strRef>
          </c:tx>
          <c:spPr>
            <a:solidFill>
              <a:srgbClr val="15815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A2E2A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Coupa</c:v>
                  </c:pt>
                  <c:pt idx="1">
                    <c:v>Ariba</c:v>
                  </c:pt>
                  <c:pt idx="2">
                    <c:v>Oracle</c:v>
                  </c:pt>
                  <c:pt idx="3">
                    <c:v>Taulia</c:v>
                  </c:pt>
                  <c:pt idx="4">
                    <c:v>Other</c:v>
                  </c:pt>
                  <c:pt idx="5">
                    <c:v>URL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19</c:v>
                </c:pt>
                <c:pt idx="1">
                  <c:v>12</c:v>
                </c:pt>
                <c:pt idx="2">
                  <c:v>3</c:v>
                </c:pt>
                <c:pt idx="3">
                  <c:v>3</c:v>
                </c:pt>
                <c:pt idx="4">
                  <c:v>3</c:v>
                </c:pt>
                <c:pt idx="5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A2E2A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B7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58158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58158"/>
                </a:solidFill>
                <a:latin typeface="Calibri"/>
              </a:rPr>
              <a:t>Avg. resolution days by month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Avg. days</c:v>
                </c:pt>
              </c:strCache>
            </c:strRef>
          </c:tx>
          <c:spPr>
            <a:solidFill>
              <a:srgbClr val="15815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A2E2A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Jun - 26</c:v>
                  </c:pt>
                  <c:pt idx="1">
                    <c:v>Jul - 26</c:v>
                  </c:pt>
                  <c:pt idx="2">
                    <c:v>Aug - 26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5.2</c:v>
                </c:pt>
                <c:pt idx="1">
                  <c:v>2</c:v>
                </c:pt>
                <c:pt idx="2">
                  <c:v>1.1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A2E2A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B7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5E5E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B7B7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58158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58158"/>
                </a:solidFill>
                <a:latin typeface="Calibri"/>
              </a:rPr>
              <a:t>Resolution time distribution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Distribution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50B432"/>
              </a:solidFill>
              <a:effectLst/>
            </c:spPr>
          </c:dPt>
          <c:dPt>
            <c:idx val="1"/>
            <c:bubble3D val="0"/>
            <c:spPr>
              <a:solidFill>
                <a:srgbClr val="24CBE5"/>
              </a:solidFill>
              <a:effectLst/>
            </c:spPr>
          </c:dPt>
          <c:dPt>
            <c:idx val="2"/>
            <c:bubble3D val="0"/>
            <c:spPr>
              <a:solidFill>
                <a:srgbClr val="058DC7"/>
              </a:solidFill>
              <a:effectLst/>
            </c:spPr>
          </c:dPt>
          <c:dPt>
            <c:idx val="3"/>
            <c:bubble3D val="0"/>
            <c:spPr>
              <a:solidFill>
                <a:srgbClr val="ED561B"/>
              </a:solidFill>
              <a:effectLst/>
            </c:spPr>
          </c:dPt>
          <c:dPt>
            <c:idx val="4"/>
            <c:bubble3D val="0"/>
            <c:spPr>
              <a:solidFill>
                <a:srgbClr val="C0392B"/>
              </a:solidFill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numFmt formatCode="General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numFmt formatCode="General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Sheet1!$A$2:$A$6</c:f>
              <c:strCache>
                <c:ptCount val="5"/>
                <c:pt idx="0">
                  <c:v>Same day</c:v>
                </c:pt>
                <c:pt idx="1">
                  <c:v>1-2 d</c:v>
                </c:pt>
                <c:pt idx="2">
                  <c:v>2-4 d</c:v>
                </c:pt>
                <c:pt idx="3">
                  <c:v>4-7 d</c:v>
                </c:pt>
                <c:pt idx="4">
                  <c:v>&gt;7 d</c:v>
                </c:pt>
              </c:strCache>
            </c:strRef>
          </c:cat>
          <c:val>
            <c:numRef>
              <c:f>Sheet1!$B$2:$B$6</c:f>
              <c:numCache>
                <c:ptCount val="5"/>
                <c:pt idx="0">
                  <c:v>38</c:v>
                </c:pt>
                <c:pt idx="1">
                  <c:v>4</c:v>
                </c:pt>
                <c:pt idx="2">
                  <c:v>6</c:v>
                </c:pt>
                <c:pt idx="3">
                  <c:v>1</c:v>
                </c:pt>
                <c:pt idx="4">
                  <c:v>2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1A2E2A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58158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58158"/>
                </a:solidFill>
                <a:latin typeface="Calibri"/>
              </a:rPr>
              <a:t>Avg. resolution days by priority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Avg. days</c:v>
                </c:pt>
              </c:strCache>
            </c:strRef>
          </c:tx>
          <c:spPr>
            <a:solidFill>
              <a:srgbClr val="ED561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A2E2A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Urgent</c:v>
                  </c:pt>
                  <c:pt idx="1">
                    <c:v>High</c:v>
                  </c:pt>
                  <c:pt idx="2">
                    <c:v>Normal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0.9</c:v>
                </c:pt>
                <c:pt idx="1">
                  <c:v>5.9</c:v>
                </c:pt>
                <c:pt idx="2">
                  <c:v>0.8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A2E2A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B7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5E5E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B7B7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chart" Target="/ppt/charts/chart6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5815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46304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Portal Metrics</a:t>
            </a:r>
            <a:endParaRPr lang="en-US" sz="44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246888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4CB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Meeting  ·  Aug - 26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29718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3F3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Portal Uploads  &amp;  Tesorio Tasks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581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Portal Uploads  —  Aug - 26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1965960" cy="1051560"/>
          </a:xfrm>
          <a:prstGeom prst="roundRect">
            <a:avLst>
              <a:gd name="adj" fmla="val 6957"/>
            </a:avLst>
          </a:prstGeom>
          <a:solidFill>
            <a:srgbClr val="F3F3F3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1069848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581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618488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542032" y="960120"/>
            <a:ext cx="1965960" cy="1051560"/>
          </a:xfrm>
          <a:prstGeom prst="roundRect">
            <a:avLst>
              <a:gd name="adj" fmla="val 6957"/>
            </a:avLst>
          </a:prstGeom>
          <a:solidFill>
            <a:srgbClr val="F3F3F3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2542032" y="1069848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58D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2542032" y="1618488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Resolved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626864" y="960120"/>
            <a:ext cx="1965960" cy="1051560"/>
          </a:xfrm>
          <a:prstGeom prst="roundRect">
            <a:avLst>
              <a:gd name="adj" fmla="val 6957"/>
            </a:avLst>
          </a:prstGeom>
          <a:solidFill>
            <a:srgbClr val="F3F3F3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626864" y="1069848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ED56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1.3 d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4626864" y="1618488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Avg. resolution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711696" y="960120"/>
            <a:ext cx="1965960" cy="1051560"/>
          </a:xfrm>
          <a:prstGeom prst="roundRect">
            <a:avLst>
              <a:gd name="adj" fmla="val 6957"/>
            </a:avLst>
          </a:prstGeom>
          <a:solidFill>
            <a:srgbClr val="F3F3F3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711696" y="1069848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50B4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83%</a:t>
            </a:r>
            <a:endParaRPr 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6711696" y="1618488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Same-day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228600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81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Resolution time by month</a:t>
            </a:r>
            <a:endParaRPr lang="en-US" sz="13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651760"/>
          <a:ext cx="420624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822960"/>
                <a:gridCol w="868680"/>
                <a:gridCol w="777240"/>
                <a:gridCol w="91440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2E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Month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2E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Uploads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2E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Resolved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2E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Avg. days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2E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 same day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2E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 - 26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2E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2E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2E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2E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2E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 - 26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2E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2E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2E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2E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2E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Aug - 26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2E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2E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2E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2E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7" name="Chart 0" descr=""/>
          <p:cNvGraphicFramePr/>
          <p:nvPr/>
        </p:nvGraphicFramePr>
        <p:xfrm>
          <a:off x="4937760" y="2286000"/>
          <a:ext cx="3840480" cy="2514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581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Portal Uploads  —  August Breakdown</a:t>
            </a:r>
            <a:endParaRPr lang="en-US" sz="26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1097280"/>
          <a:ext cx="402336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Chart 1" descr=""/>
          <p:cNvGraphicFramePr/>
          <p:nvPr/>
        </p:nvGraphicFramePr>
        <p:xfrm>
          <a:off x="4754880" y="1097280"/>
          <a:ext cx="402336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581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Tesorio Tasks  —  Aug - 26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1965960" cy="1051560"/>
          </a:xfrm>
          <a:prstGeom prst="roundRect">
            <a:avLst>
              <a:gd name="adj" fmla="val 6957"/>
            </a:avLst>
          </a:prstGeom>
          <a:solidFill>
            <a:srgbClr val="F3F3F3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1069848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581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618488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Completed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542032" y="960120"/>
            <a:ext cx="1965960" cy="1051560"/>
          </a:xfrm>
          <a:prstGeom prst="roundRect">
            <a:avLst>
              <a:gd name="adj" fmla="val 6957"/>
            </a:avLst>
          </a:prstGeom>
          <a:solidFill>
            <a:srgbClr val="F3F3F3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2542032" y="1069848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ED56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 d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2542032" y="1618488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Avg. resolution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626864" y="960120"/>
            <a:ext cx="1965960" cy="1051560"/>
          </a:xfrm>
          <a:prstGeom prst="roundRect">
            <a:avLst>
              <a:gd name="adj" fmla="val 6957"/>
            </a:avLst>
          </a:prstGeom>
          <a:solidFill>
            <a:srgbClr val="F3F3F3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626864" y="1069848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50B4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75%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4626864" y="1618488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Same-day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711696" y="960120"/>
            <a:ext cx="1965960" cy="1051560"/>
          </a:xfrm>
          <a:prstGeom prst="roundRect">
            <a:avLst>
              <a:gd name="adj" fmla="val 6957"/>
            </a:avLst>
          </a:prstGeom>
          <a:solidFill>
            <a:srgbClr val="F3F3F3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711696" y="1069848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58D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6711696" y="1618488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today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228600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81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Resolution time by month</a:t>
            </a:r>
            <a:endParaRPr lang="en-US" sz="13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651760"/>
          <a:ext cx="420624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822960"/>
                <a:gridCol w="914400"/>
                <a:gridCol w="777240"/>
                <a:gridCol w="86868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2E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Month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2E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Created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2E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Completed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2E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Avg. days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2E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 same day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2E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 - 26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2E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2E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2E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2E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2E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 - 26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2E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2E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2E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2E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2E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Aug - 26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2E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2E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2E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2E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7" name="Chart 0" descr=""/>
          <p:cNvGraphicFramePr/>
          <p:nvPr/>
        </p:nvGraphicFramePr>
        <p:xfrm>
          <a:off x="4937760" y="2286000"/>
          <a:ext cx="3840480" cy="2514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581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Tesorio Tasks  —  August Breakdown</a:t>
            </a:r>
            <a:endParaRPr lang="en-US" sz="26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1097280"/>
          <a:ext cx="402336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Chart 1" descr=""/>
          <p:cNvGraphicFramePr/>
          <p:nvPr/>
        </p:nvGraphicFramePr>
        <p:xfrm>
          <a:off x="4754880" y="1097280"/>
          <a:ext cx="4023360" cy="2880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 1"/>
          <p:cNvSpPr txBox="1"/>
          <p:nvPr/>
        </p:nvSpPr>
        <p:spPr>
          <a:xfrm>
            <a:off x="4754880" y="416052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7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open tasks today  ·  6 To Do + 3 Working  ·  oldest 43 days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5815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Takeaways — Aug - 26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17904"/>
            <a:ext cx="146304" cy="146304"/>
          </a:xfrm>
          <a:prstGeom prst="ellipse">
            <a:avLst/>
          </a:prstGeom>
          <a:solidFill>
            <a:srgbClr val="24CBE5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60120" y="1417320"/>
            <a:ext cx="7589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Portal Uploads: 1.3 days avg (down from 2.9 in Jul) · 83% resolved same day.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231136"/>
            <a:ext cx="146304" cy="146304"/>
          </a:xfrm>
          <a:prstGeom prst="ellipse">
            <a:avLst/>
          </a:prstGeom>
          <a:solidFill>
            <a:srgbClr val="24CBE5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60120" y="2130552"/>
            <a:ext cx="7589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Tesorio Tasks: 1.1 days avg · 75% same day · sustained improvement vs. backlog.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2944368"/>
            <a:ext cx="146304" cy="146304"/>
          </a:xfrm>
          <a:prstGeom prst="ellipse">
            <a:avLst/>
          </a:prstGeom>
          <a:solidFill>
            <a:srgbClr val="24CBE5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60120" y="2843784"/>
            <a:ext cx="7589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workflows trending down month over month.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40080" y="3657600"/>
            <a:ext cx="146304" cy="146304"/>
          </a:xfrm>
          <a:prstGeom prst="ellipse">
            <a:avLst/>
          </a:prstGeom>
          <a:solidFill>
            <a:srgbClr val="24CBE5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960120" y="3557016"/>
            <a:ext cx="7589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Watch: 9 Tesorio tasks still open (oldest 43 days); 9 tasks took &gt;2 days in Aug.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2026-09-03T22:49:57Z</dcterms:created>
  <dcterms:modified xsi:type="dcterms:W3CDTF">2026-09-03T22:49:57Z</dcterms:modified>
</cp:coreProperties>
</file>